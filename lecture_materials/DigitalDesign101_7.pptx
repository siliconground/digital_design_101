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70" r:id="rId2"/>
    <p:sldId id="14910" r:id="rId3"/>
    <p:sldId id="14849" r:id="rId4"/>
    <p:sldId id="14950" r:id="rId5"/>
    <p:sldId id="14951" r:id="rId6"/>
    <p:sldId id="14953" r:id="rId7"/>
    <p:sldId id="14952" r:id="rId8"/>
    <p:sldId id="14954" r:id="rId9"/>
    <p:sldId id="14955" r:id="rId10"/>
    <p:sldId id="710" r:id="rId11"/>
    <p:sldId id="711" r:id="rId12"/>
    <p:sldId id="707" r:id="rId13"/>
    <p:sldId id="708" r:id="rId14"/>
    <p:sldId id="14958" r:id="rId15"/>
    <p:sldId id="14956" r:id="rId16"/>
    <p:sldId id="14957" r:id="rId17"/>
    <p:sldId id="14959" r:id="rId18"/>
    <p:sldId id="14960" r:id="rId19"/>
    <p:sldId id="14961" r:id="rId20"/>
    <p:sldId id="14962" r:id="rId21"/>
    <p:sldId id="14963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4" userDrawn="1">
          <p15:clr>
            <a:srgbClr val="A4A3A4"/>
          </p15:clr>
        </p15:guide>
        <p15:guide id="2" pos="257" userDrawn="1">
          <p15:clr>
            <a:srgbClr val="A4A3A4"/>
          </p15:clr>
        </p15:guide>
        <p15:guide id="3" pos="7401" userDrawn="1">
          <p15:clr>
            <a:srgbClr val="A4A3A4"/>
          </p15:clr>
        </p15:guide>
        <p15:guide id="4" orient="horz" pos="41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7ED1"/>
    <a:srgbClr val="147BD1"/>
    <a:srgbClr val="EBEBE9"/>
    <a:srgbClr val="1DCAD3"/>
    <a:srgbClr val="93DA49"/>
    <a:srgbClr val="FFB71B"/>
    <a:srgbClr val="EA0029"/>
    <a:srgbClr val="00A376"/>
    <a:srgbClr val="D50057"/>
    <a:srgbClr val="FF8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49" autoAdjust="0"/>
    <p:restoredTop sz="82762" autoAdjust="0"/>
  </p:normalViewPr>
  <p:slideViewPr>
    <p:cSldViewPr snapToGrid="0" showGuides="1">
      <p:cViewPr varScale="1">
        <p:scale>
          <a:sx n="109" d="100"/>
          <a:sy n="109" d="100"/>
        </p:scale>
        <p:origin x="114" y="552"/>
      </p:cViewPr>
      <p:guideLst>
        <p:guide orient="horz" pos="164"/>
        <p:guide pos="257"/>
        <p:guide pos="7401"/>
        <p:guide orient="horz" pos="411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howGuides="1">
      <p:cViewPr varScale="1">
        <p:scale>
          <a:sx n="78" d="100"/>
          <a:sy n="78" d="100"/>
        </p:scale>
        <p:origin x="396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FA37033-ED58-7468-B3A7-D86EC993E4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F50E057-5885-7CF0-A566-F1509F15ECF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8A9B2-778C-433C-8A06-393197C1381D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C110CC0-26F9-7A19-1D7F-586CF7E94F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30F5FF-528F-49FD-EB3A-E1235211DB5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A8D64-9144-4D65-95FF-539FB0414D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73662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B2C73-F33F-494A-BC1B-E1D751896FFE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DF360B-A3AE-4175-B4D3-5B0EB60874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53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6107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247133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85696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71566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701684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838935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047945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39466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419642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401927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757325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10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2">
            <a:extLst>
              <a:ext uri="{FF2B5EF4-FFF2-40B4-BE49-F238E27FC236}">
                <a16:creationId xmlns:a16="http://schemas.microsoft.com/office/drawing/2014/main" id="{0A2B689D-8977-AD6A-3C69-6D92240020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7667" y="2898545"/>
            <a:ext cx="282262" cy="75270"/>
          </a:xfrm>
          <a:prstGeom prst="rect">
            <a:avLst/>
          </a:prstGeom>
        </p:spPr>
      </p:pic>
      <p:sp>
        <p:nvSpPr>
          <p:cNvPr id="17" name="Title 32">
            <a:extLst>
              <a:ext uri="{FF2B5EF4-FFF2-40B4-BE49-F238E27FC236}">
                <a16:creationId xmlns:a16="http://schemas.microsoft.com/office/drawing/2014/main" id="{15344361-8496-51B6-866B-094BE72A15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6157" y="3207777"/>
            <a:ext cx="7689344" cy="44244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0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lvl="0" indent="-228600">
              <a:buFont typeface="Arial" panose="020B0604020202020204" pitchFamily="34" charset="0"/>
            </a:pPr>
            <a:r>
              <a:rPr lang="en-US" dirty="0"/>
              <a:t>PRESENTATION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993181B-10D9-9297-61FD-4CCD2845F2CF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6155" y="5363127"/>
            <a:ext cx="134696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소속기관명</a:t>
            </a:r>
            <a:endParaRPr lang="en-US" dirty="0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45613ED5-364D-70A2-FBDC-67AB945B8EF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56156" y="3959455"/>
            <a:ext cx="7689344" cy="4389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부제목을 입력해 주세요</a:t>
            </a:r>
            <a:endParaRPr lang="en-US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4CD1575-1C7B-CFAB-E034-1CB5FDC6F6D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2128520" y="5359223"/>
            <a:ext cx="289681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성함 직함</a:t>
            </a:r>
            <a:endParaRPr lang="en-US" altLang="ko-KR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864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AC6ED3B-B028-3C6A-603A-7FEC1CF2A0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5669026" cy="6858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C47035B-5EFB-CC4F-96A0-93ECD02EFE5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38600" y="1644673"/>
            <a:ext cx="3325603" cy="3678525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6F42CB39-D109-24BB-F6D0-0D47894AC977}"/>
              </a:ext>
            </a:extLst>
          </p:cNvPr>
          <p:cNvSpPr/>
          <p:nvPr userDrawn="1"/>
        </p:nvSpPr>
        <p:spPr>
          <a:xfrm>
            <a:off x="1838848" y="813916"/>
            <a:ext cx="3737345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EC3ED8-DCB6-B804-2AC4-6D3105DE41D9}"/>
              </a:ext>
            </a:extLst>
          </p:cNvPr>
          <p:cNvSpPr txBox="1"/>
          <p:nvPr userDrawn="1"/>
        </p:nvSpPr>
        <p:spPr>
          <a:xfrm>
            <a:off x="574525" y="575156"/>
            <a:ext cx="2804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rgbClr val="147B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ko-KR" altLang="en-US" sz="2800" b="1" dirty="0">
              <a:solidFill>
                <a:srgbClr val="147BD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부제목 13">
            <a:extLst>
              <a:ext uri="{FF2B5EF4-FFF2-40B4-BE49-F238E27FC236}">
                <a16:creationId xmlns:a16="http://schemas.microsoft.com/office/drawing/2014/main" id="{9D79CC19-00AF-C47A-B5DC-A4C39937A145}"/>
              </a:ext>
            </a:extLst>
          </p:cNvPr>
          <p:cNvSpPr txBox="1">
            <a:spLocks/>
          </p:cNvSpPr>
          <p:nvPr userDrawn="1"/>
        </p:nvSpPr>
        <p:spPr>
          <a:xfrm>
            <a:off x="645645" y="387656"/>
            <a:ext cx="2643655" cy="4389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200" dirty="0">
                <a:solidFill>
                  <a:srgbClr val="D4D4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  I  N  E  P  L  U  S  I  T</a:t>
            </a:r>
            <a:endParaRPr lang="ko-KR" altLang="en-US" sz="1200" dirty="0">
              <a:solidFill>
                <a:srgbClr val="D4D4D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A57AF3A-A4EB-0B0A-9D18-3723383EF2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36A8999-FDD4-0AD3-598F-C2CAE37EC2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E266866-8E2B-E06F-867C-AA402CB3245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91" r="52827"/>
          <a:stretch/>
        </p:blipFill>
        <p:spPr>
          <a:xfrm rot="10800000">
            <a:off x="0" y="4991407"/>
            <a:ext cx="2225400" cy="1876097"/>
          </a:xfrm>
          <a:prstGeom prst="rect">
            <a:avLst/>
          </a:prstGeom>
        </p:spPr>
      </p:pic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C6627FCA-972B-4BB6-55FD-CE8B4728242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E4840E2-5E13-B055-1443-080C8EACE103}"/>
              </a:ext>
            </a:extLst>
          </p:cNvPr>
          <p:cNvSpPr/>
          <p:nvPr userDrawn="1"/>
        </p:nvSpPr>
        <p:spPr>
          <a:xfrm>
            <a:off x="3378685" y="10583"/>
            <a:ext cx="2290341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1756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7C6BF1BD-65AB-9F9F-BBF8-02D82CB2EF4F}"/>
              </a:ext>
            </a:extLst>
          </p:cNvPr>
          <p:cNvGrpSpPr/>
          <p:nvPr userDrawn="1"/>
        </p:nvGrpSpPr>
        <p:grpSpPr>
          <a:xfrm>
            <a:off x="0" y="20686"/>
            <a:ext cx="12192000" cy="2801257"/>
            <a:chOff x="0" y="20686"/>
            <a:chExt cx="12192000" cy="2801257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9AC185F2-217E-FC8A-F79E-6207FBCF9F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4341"/>
            <a:stretch/>
          </p:blipFill>
          <p:spPr>
            <a:xfrm>
              <a:off x="0" y="20686"/>
              <a:ext cx="12192000" cy="2694338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8EB42C5-A44E-941C-BD61-D4F388159019}"/>
                </a:ext>
              </a:extLst>
            </p:cNvPr>
            <p:cNvSpPr/>
            <p:nvPr userDrawn="1"/>
          </p:nvSpPr>
          <p:spPr>
            <a:xfrm>
              <a:off x="4749800" y="1357618"/>
              <a:ext cx="3086100" cy="1464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24E42BE8-63C9-AD43-B49A-36AB11AB45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99" r="37743" b="78275"/>
          <a:stretch/>
        </p:blipFill>
        <p:spPr>
          <a:xfrm rot="5400000">
            <a:off x="10192809" y="4800676"/>
            <a:ext cx="3057033" cy="92778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5" y="237245"/>
            <a:ext cx="887350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BACC5D-C8EA-42F1-CA99-243C0146CA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373" y="3493142"/>
            <a:ext cx="10744200" cy="1188720"/>
          </a:xfrm>
        </p:spPr>
        <p:txBody>
          <a:bodyPr anchor="t" anchorCtr="0">
            <a:noAutofit/>
          </a:bodyPr>
          <a:lstStyle>
            <a:lvl1pPr>
              <a:lnSpc>
                <a:spcPct val="130000"/>
              </a:lnSpc>
              <a:defRPr sz="28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간지 내용을 입력해 주세요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366482A-6BF8-FFC6-47C6-24B31596039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6744" y="4004065"/>
            <a:ext cx="10827604" cy="677797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>
              <a:lnSpc>
                <a:spcPct val="130000"/>
              </a:lnSpc>
              <a:buNone/>
              <a:defRPr sz="20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내용을 입력해 주세요</a:t>
            </a:r>
            <a:endParaRPr 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97B5B7B-C0AC-3577-38A0-8DDD0EE0191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5654" r="57737" b="59319"/>
          <a:stretch/>
        </p:blipFill>
        <p:spPr>
          <a:xfrm>
            <a:off x="379186" y="2976683"/>
            <a:ext cx="2131786" cy="361720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C0B63F71-8B17-75BA-431B-EC8B15CED286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798885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F5FF8531-6602-6B50-A085-CDB91C415011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19DB3ED-6F85-3EFA-BBD1-BABB6B9C68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C01F753-9E37-C8DC-95FF-DF93DF3393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6A11B6C2-6061-3E55-077D-166C78B0ED7E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169975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36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3B83660C-63E0-0CAA-517A-56CE5094A9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19" name="내용 개체 틀 4">
            <a:extLst>
              <a:ext uri="{FF2B5EF4-FFF2-40B4-BE49-F238E27FC236}">
                <a16:creationId xmlns:a16="http://schemas.microsoft.com/office/drawing/2014/main" id="{58830C0C-E56C-3ECA-C9CA-D786D27DA36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84708" y="1722863"/>
            <a:ext cx="7688263" cy="1662693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본문 내용을 입력해 주세요</a:t>
            </a:r>
          </a:p>
        </p:txBody>
      </p:sp>
      <p:sp>
        <p:nvSpPr>
          <p:cNvPr id="20" name="내용 개체 틀 4">
            <a:extLst>
              <a:ext uri="{FF2B5EF4-FFF2-40B4-BE49-F238E27FC236}">
                <a16:creationId xmlns:a16="http://schemas.microsoft.com/office/drawing/2014/main" id="{DA2D460F-401E-946C-4819-5CAF1DEE37E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8437" y="1265135"/>
            <a:ext cx="7688263" cy="384780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064D8154-20AE-1DD0-D610-B24CF84C8A9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87224E7-8403-7591-6B1C-C031BE82A3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E5410BEA-4881-88D1-E737-C10291E66D4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A10D5E0-0C61-CEB0-1EA0-431E53BBA66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7F29AE4C-4C6B-01FA-DB71-26C9389E469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6381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7B1C25-666F-3850-741D-F8453E0AD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438" y="1447286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86742E4-6FBD-24DE-B85E-52C7A29DCB4E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477000" y="1446772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6165312-91BD-A6B4-3DB8-FCCC95EBC28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443307DC-A9A4-0AF1-431B-CE8D866C6F0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EACB026E-116D-A154-5B23-D99661FC4A7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151408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59581B5-AD61-C855-0268-F70136A9FC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5707089-CB6C-150C-BF3E-38E3E399E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6" y="237245"/>
            <a:ext cx="887348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cdtText Placeholder 12 Id13">
            <a:extLst>
              <a:ext uri="{FF2B5EF4-FFF2-40B4-BE49-F238E27FC236}">
                <a16:creationId xmlns:a16="http://schemas.microsoft.com/office/drawing/2014/main" id="{AAF3BF8F-EA23-F148-B484-C055AFAA6127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 bwMode="auto">
          <a:xfrm>
            <a:off x="4864100" y="1663814"/>
            <a:ext cx="7327900" cy="392272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21" name="Bildplatzhalter 7">
            <a:extLst>
              <a:ext uri="{FF2B5EF4-FFF2-40B4-BE49-F238E27FC236}">
                <a16:creationId xmlns:a16="http://schemas.microsoft.com/office/drawing/2014/main" id="{8E616DC4-24DA-D652-DA34-FA51D618129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63814"/>
            <a:ext cx="3724650" cy="3922726"/>
          </a:xfrm>
        </p:spPr>
        <p:txBody>
          <a:bodyPr tIns="1800000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C9CFBB3B-8459-B072-CE35-DD44739A71F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43239AF0-F814-1FD7-257B-DDBBDB114EB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6B8DCC5C-A8F6-8B61-A136-3FE8CE48A16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537133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5" name="Bildplatzhalter 7">
            <a:extLst>
              <a:ext uri="{FF2B5EF4-FFF2-40B4-BE49-F238E27FC236}">
                <a16:creationId xmlns:a16="http://schemas.microsoft.com/office/drawing/2014/main" id="{D85258F4-62CE-F16F-9645-FF41CDB1D15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76514"/>
            <a:ext cx="3724650" cy="3910026"/>
          </a:xfrm>
        </p:spPr>
        <p:txBody>
          <a:bodyPr tIns="1800000" anchor="t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BCDC8753-1F35-1528-64B1-335591BD4AA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98D4D303-C8FF-C353-4FA5-2C610350C5A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cdtText Placeholder 12 Id13">
            <a:extLst>
              <a:ext uri="{FF2B5EF4-FFF2-40B4-BE49-F238E27FC236}">
                <a16:creationId xmlns:a16="http://schemas.microsoft.com/office/drawing/2014/main" id="{05432AFD-A799-FEA4-2069-2B09A5AC6813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1"/>
            </p:custDataLst>
          </p:nvPr>
        </p:nvSpPr>
        <p:spPr bwMode="auto">
          <a:xfrm>
            <a:off x="5032972" y="382135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9" name="cdtText Placeholder 12 Id13">
            <a:extLst>
              <a:ext uri="{FF2B5EF4-FFF2-40B4-BE49-F238E27FC236}">
                <a16:creationId xmlns:a16="http://schemas.microsoft.com/office/drawing/2014/main" id="{44EF8955-81F0-73C3-DF88-D85D87ED57DE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 bwMode="auto">
          <a:xfrm>
            <a:off x="5032973" y="166381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4" name="슬라이드 번호 개체 틀 4">
            <a:extLst>
              <a:ext uri="{FF2B5EF4-FFF2-40B4-BE49-F238E27FC236}">
                <a16:creationId xmlns:a16="http://schemas.microsoft.com/office/drawing/2014/main" id="{4A7882DE-8F0D-5B26-23EB-0FCFD6159BE5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35633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">
    <p:bg>
      <p:bgPr>
        <a:gradFill>
          <a:gsLst>
            <a:gs pos="0">
              <a:srgbClr val="147BD1"/>
            </a:gs>
            <a:gs pos="100000">
              <a:srgbClr val="1DCAD3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C1D64FA5-CDB1-F994-65BE-0BE3473A03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808505" y="3704117"/>
            <a:ext cx="2383495" cy="3153883"/>
          </a:xfrm>
          <a:prstGeom prst="rect">
            <a:avLst/>
          </a:prstGeom>
        </p:spPr>
      </p:pic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154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B953AF5-74C5-EA32-15A6-A2A81C8D99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39" t="27780"/>
          <a:stretch/>
        </p:blipFill>
        <p:spPr>
          <a:xfrm>
            <a:off x="0" y="0"/>
            <a:ext cx="4379984" cy="2614021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C7CAAF6-0D81-0DCB-296D-A9E665D79F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ED072FD4-8691-B58C-84BF-7070B55A96C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B47B13F2-BD53-D01C-9069-5413AEC44D5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35760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6" r="493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47BD1"/>
              </a:gs>
              <a:gs pos="100000">
                <a:srgbClr val="1DCAD3"/>
              </a:gs>
            </a:gsLst>
            <a:lin ang="0" scaled="0"/>
          </a:gradFill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94BC1758-BCD0-EFDE-D40D-3328166423D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524256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0" r="5270"/>
          <a:stretch/>
        </p:blipFill>
        <p:spPr>
          <a:xfrm>
            <a:off x="11860" y="0"/>
            <a:ext cx="12168280" cy="6858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-1186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</p:spTree>
    <p:extLst>
      <p:ext uri="{BB962C8B-B14F-4D97-AF65-F5344CB8AC3E}">
        <p14:creationId xmlns:p14="http://schemas.microsoft.com/office/powerpoint/2010/main" val="133113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FC620FB5-B821-DD9F-5C14-6B031E0169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51" b="68742"/>
          <a:stretch/>
        </p:blipFill>
        <p:spPr>
          <a:xfrm rot="5400000">
            <a:off x="-347201" y="272317"/>
            <a:ext cx="1831557" cy="1185564"/>
          </a:xfrm>
          <a:prstGeom prst="rect">
            <a:avLst/>
          </a:prstGeom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4F2F3662-5803-F093-0DD0-028CD7271654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C84D7C-145C-4AF9-76D0-7B1431CD2603}"/>
              </a:ext>
            </a:extLst>
          </p:cNvPr>
          <p:cNvSpPr txBox="1"/>
          <p:nvPr userDrawn="1"/>
        </p:nvSpPr>
        <p:spPr>
          <a:xfrm>
            <a:off x="5275256" y="6511765"/>
            <a:ext cx="404019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chemeClr val="bg2">
                    <a:lumMod val="90000"/>
                  </a:schemeClr>
                </a:solidFill>
              </a:rPr>
              <a:t>www.npit.co.kr | www.cadence.com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AEF28D-8886-7A1A-E40A-67F610580BDE}"/>
              </a:ext>
            </a:extLst>
          </p:cNvPr>
          <p:cNvSpPr txBox="1"/>
          <p:nvPr userDrawn="1"/>
        </p:nvSpPr>
        <p:spPr>
          <a:xfrm>
            <a:off x="779685" y="2899820"/>
            <a:ext cx="1614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Thank you.</a:t>
            </a:r>
            <a:endParaRPr lang="ko-KR" altLang="en-US" sz="24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Graphic 12">
            <a:extLst>
              <a:ext uri="{FF2B5EF4-FFF2-40B4-BE49-F238E27FC236}">
                <a16:creationId xmlns:a16="http://schemas.microsoft.com/office/drawing/2014/main" id="{ABF6BE7C-7BEB-9089-D842-E1FB93808AF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9618" y="2663329"/>
            <a:ext cx="282262" cy="7527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062AFAA-FF6C-78BB-9FC5-DFD9466E0DA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0083" y="1514526"/>
            <a:ext cx="2965031" cy="327968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D4D2F14-B0D6-8A92-0A8F-64B1949F8C4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39" t="12615"/>
          <a:stretch/>
        </p:blipFill>
        <p:spPr>
          <a:xfrm rot="10800000">
            <a:off x="10342616" y="3480709"/>
            <a:ext cx="1802600" cy="3333749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5C4E2205-6958-43AE-E6B8-60D61D53E91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8400669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-Content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17237-B3FB-4132-840C-A7CA79881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3" y="1097281"/>
            <a:ext cx="5649687" cy="5395594"/>
          </a:xfrm>
        </p:spPr>
        <p:txBody>
          <a:bodyPr/>
          <a:lstStyle>
            <a:lvl1pPr>
              <a:spcBef>
                <a:spcPts val="1600"/>
              </a:spcBef>
              <a:spcAft>
                <a:spcPts val="300"/>
              </a:spcAft>
              <a:defRPr sz="2000">
                <a:solidFill>
                  <a:schemeClr val="tx1"/>
                </a:solidFill>
              </a:defRPr>
            </a:lvl1pPr>
            <a:lvl2pPr>
              <a:spcBef>
                <a:spcPts val="400"/>
              </a:spcBef>
              <a:spcAft>
                <a:spcPts val="300"/>
              </a:spcAft>
              <a:defRPr sz="1600">
                <a:solidFill>
                  <a:schemeClr val="tx1"/>
                </a:solidFill>
              </a:defRPr>
            </a:lvl2pPr>
            <a:lvl3pPr marL="1200150" indent="-285750">
              <a:spcBef>
                <a:spcPts val="400"/>
              </a:spcBef>
              <a:spcAft>
                <a:spcPts val="300"/>
              </a:spcAft>
              <a:buFont typeface="Rubik Light" panose="00000400000000000000" pitchFamily="2" charset="-79"/>
              <a:buChar char="–"/>
              <a:defRPr sz="1400">
                <a:solidFill>
                  <a:schemeClr val="tx1"/>
                </a:solidFill>
              </a:defRPr>
            </a:lvl3pPr>
            <a:lvl4pPr marL="1652588" indent="-280988">
              <a:spcBef>
                <a:spcPts val="400"/>
              </a:spcBef>
              <a:spcAft>
                <a:spcPts val="30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3374ED-F4A9-4BE8-BA9B-8F72F3B9C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8854C1E-BAF8-4D9C-8A7D-79B69E538C0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41165" y="1222513"/>
            <a:ext cx="5404747" cy="5157650"/>
          </a:xfrm>
          <a:ln w="25400">
            <a:gradFill flip="none" rotWithShape="1">
              <a:gsLst>
                <a:gs pos="50000">
                  <a:srgbClr val="84DB0F"/>
                </a:gs>
                <a:gs pos="0">
                  <a:schemeClr val="accent3"/>
                </a:gs>
                <a:gs pos="100000">
                  <a:srgbClr val="2DCCD3"/>
                </a:gs>
              </a:gsLst>
              <a:lin ang="2700000" scaled="1"/>
              <a:tileRect/>
            </a:gradFill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30905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217EF33-D600-989E-8A91-749A5D900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441B4B-84BC-1AF8-3E52-17240F744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EB88D-BBE7-6387-84B5-6EE90D94E1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EC200-83C1-4365-A99F-86FD10E76130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6A1E2B-77FA-7B7E-80BF-AD04C6721F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93BC41-64C4-A681-82AC-FD8DCB42FA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6D7E8-4E64-4D6D-BDDF-219C8CEEFB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153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51" r:id="rId2"/>
    <p:sldLayoutId id="2147483661" r:id="rId3"/>
    <p:sldLayoutId id="2147483670" r:id="rId4"/>
    <p:sldLayoutId id="2147483650" r:id="rId5"/>
    <p:sldLayoutId id="2147483669" r:id="rId6"/>
    <p:sldLayoutId id="2147483668" r:id="rId7"/>
    <p:sldLayoutId id="2147483666" r:id="rId8"/>
    <p:sldLayoutId id="2147483663" r:id="rId9"/>
    <p:sldLayoutId id="2147483662" r:id="rId10"/>
    <p:sldLayoutId id="2147483671" r:id="rId11"/>
    <p:sldLayoutId id="2147483659" r:id="rId12"/>
    <p:sldLayoutId id="2147483673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C89591-F99B-E9A0-5755-41D660F30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55" y="3207777"/>
            <a:ext cx="9733566" cy="747774"/>
          </a:xfrm>
        </p:spPr>
        <p:txBody>
          <a:bodyPr/>
          <a:lstStyle/>
          <a:p>
            <a:r>
              <a:rPr lang="en-US" altLang="ko-KR" sz="3600" b="1" dirty="0">
                <a:latin typeface="Arial" panose="020B0604020202020204" pitchFamily="34" charset="0"/>
                <a:cs typeface="Arial" panose="020B0604020202020204" pitchFamily="34" charset="0"/>
              </a:rPr>
              <a:t>Digital Design 101 | 2026-1</a:t>
            </a:r>
            <a:endParaRPr lang="ko-KR" alt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A04821A0-9121-CBE3-449D-14D5A206EF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Session7 : Function and Task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0463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D48BAA-9ADC-45C7-B6D0-CBF70C034ED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BD4A0B-A2EA-4823-857A-3B47982FEFD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A9396F-2DC7-9F2F-8212-5AC8FDA5791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4639" y="4935172"/>
            <a:ext cx="11195050" cy="712788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1. Understanding Function and Task</a:t>
            </a:r>
          </a:p>
        </p:txBody>
      </p:sp>
    </p:spTree>
    <p:extLst>
      <p:ext uri="{BB962C8B-B14F-4D97-AF65-F5344CB8AC3E}">
        <p14:creationId xmlns:p14="http://schemas.microsoft.com/office/powerpoint/2010/main" val="365783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DD3D3-C8D3-093B-3FB2-1410378439E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Function and Task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02203D-D809-4B71-98A3-44FDBA578949}"/>
              </a:ext>
            </a:extLst>
          </p:cNvPr>
          <p:cNvSpPr txBox="1"/>
          <p:nvPr/>
        </p:nvSpPr>
        <p:spPr>
          <a:xfrm>
            <a:off x="881063" y="1213338"/>
            <a:ext cx="1068961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/>
              <a:t>Function and Task</a:t>
            </a:r>
          </a:p>
          <a:p>
            <a:pPr marL="914400" lvl="1" indent="-457200">
              <a:buFont typeface="+mj-lt"/>
              <a:buAutoNum type="arabicPeriod"/>
            </a:pPr>
            <a:r>
              <a:rPr lang="ko-KR" altLang="en-US" sz="2000" dirty="0"/>
              <a:t>반복적인 </a:t>
            </a:r>
            <a:r>
              <a:rPr lang="en-US" altLang="ko-KR" sz="2000" dirty="0"/>
              <a:t>Behavioral Modeling</a:t>
            </a:r>
            <a:r>
              <a:rPr lang="ko-KR" altLang="en-US" sz="2000" dirty="0"/>
              <a:t>을 분리하여 </a:t>
            </a:r>
            <a:r>
              <a:rPr lang="en-US" altLang="ko-KR" sz="2000" dirty="0"/>
              <a:t>function</a:t>
            </a:r>
            <a:r>
              <a:rPr lang="ko-KR" altLang="en-US" sz="2000" dirty="0"/>
              <a:t>이나 </a:t>
            </a:r>
            <a:r>
              <a:rPr lang="en-US" altLang="ko-KR" sz="2000" dirty="0"/>
              <a:t>task</a:t>
            </a:r>
            <a:r>
              <a:rPr lang="ko-KR" altLang="en-US" sz="2000" dirty="0"/>
              <a:t>로 정의하고 호출하여 사용</a:t>
            </a:r>
            <a:endParaRPr lang="en-US" altLang="ko-KR" sz="2000" dirty="0"/>
          </a:p>
          <a:p>
            <a:pPr marL="914400" lvl="1" indent="-457200">
              <a:buFont typeface="+mj-lt"/>
              <a:buAutoNum type="arabicPeriod"/>
            </a:pPr>
            <a:endParaRPr lang="en-US" altLang="ko-KR" sz="2000" dirty="0"/>
          </a:p>
          <a:p>
            <a:pPr marL="914400" lvl="1" indent="-457200">
              <a:buFont typeface="+mj-lt"/>
              <a:buAutoNum type="arabicPeriod"/>
            </a:pPr>
            <a:r>
              <a:rPr lang="ko-KR" altLang="en-US" sz="2000" dirty="0"/>
              <a:t>큰 규모의 </a:t>
            </a:r>
            <a:r>
              <a:rPr lang="en-US" altLang="ko-KR" sz="2000" dirty="0"/>
              <a:t>Behavioral Modeling</a:t>
            </a:r>
            <a:r>
              <a:rPr lang="ko-KR" altLang="en-US" sz="2000" dirty="0"/>
              <a:t>을 작은 부분들로 분할</a:t>
            </a:r>
            <a:endParaRPr lang="en-US" altLang="ko-KR" sz="20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ko-KR" sz="2000" dirty="0"/>
              <a:t>HDL</a:t>
            </a:r>
            <a:r>
              <a:rPr lang="ko-KR" altLang="en-US" sz="2000" dirty="0"/>
              <a:t> </a:t>
            </a:r>
            <a:r>
              <a:rPr lang="en-US" altLang="ko-KR" sz="2000" dirty="0"/>
              <a:t>Code</a:t>
            </a:r>
            <a:r>
              <a:rPr lang="ko-KR" altLang="en-US" sz="2000" dirty="0"/>
              <a:t>의 가독성</a:t>
            </a:r>
            <a:r>
              <a:rPr lang="en-US" altLang="ko-KR" sz="2000" dirty="0"/>
              <a:t>(readability)</a:t>
            </a:r>
            <a:r>
              <a:rPr lang="ko-KR" altLang="en-US" sz="2000" dirty="0"/>
              <a:t>을 </a:t>
            </a:r>
            <a:r>
              <a:rPr lang="ko-KR" altLang="en-US" sz="2000" dirty="0" err="1"/>
              <a:t>높여줌</a:t>
            </a:r>
            <a:r>
              <a:rPr lang="ko-KR" altLang="en-US" sz="2000" dirty="0"/>
              <a:t> → 디버깅</a:t>
            </a:r>
            <a:r>
              <a:rPr lang="en-US" altLang="ko-KR" sz="2000" dirty="0"/>
              <a:t>(debugging) ↑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914400" lvl="1" indent="-457200">
              <a:buFont typeface="+mj-lt"/>
              <a:buAutoNum type="arabicPeriod"/>
            </a:pPr>
            <a:r>
              <a:rPr lang="ko-KR" altLang="en-US" sz="2000" dirty="0"/>
              <a:t>종류</a:t>
            </a:r>
            <a:endParaRPr lang="en-US" altLang="ko-KR" sz="20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ko-KR" sz="2000" dirty="0"/>
              <a:t>User defined function and task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ko-KR" sz="2000" dirty="0"/>
              <a:t>System function and task</a:t>
            </a:r>
          </a:p>
          <a:p>
            <a:pPr lvl="2"/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564453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3FD43-A32B-4BEC-8F60-437C616627E4}"/>
              </a:ext>
            </a:extLst>
          </p:cNvPr>
          <p:cNvSpPr txBox="1">
            <a:spLocks/>
          </p:cNvSpPr>
          <p:nvPr/>
        </p:nvSpPr>
        <p:spPr>
          <a:xfrm>
            <a:off x="881063" y="365125"/>
            <a:ext cx="10883045" cy="6397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Difference function and task</a:t>
            </a:r>
            <a:endParaRPr lang="ko-KR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D98F62-245D-42F8-8113-03D63C890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952" y="1218835"/>
            <a:ext cx="8240225" cy="4733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777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D48BAA-9ADC-45C7-B6D0-CBF70C034ED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BD4A0B-A2EA-4823-857A-3B47982FEFD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A9396F-2DC7-9F2F-8212-5AC8FDA5791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4639" y="4935172"/>
            <a:ext cx="11195050" cy="712788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2. Function</a:t>
            </a:r>
          </a:p>
        </p:txBody>
      </p:sp>
    </p:spTree>
    <p:extLst>
      <p:ext uri="{BB962C8B-B14F-4D97-AF65-F5344CB8AC3E}">
        <p14:creationId xmlns:p14="http://schemas.microsoft.com/office/powerpoint/2010/main" val="715457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F19A4-A856-4649-B9AC-AD26B50DDE47}"/>
              </a:ext>
            </a:extLst>
          </p:cNvPr>
          <p:cNvSpPr txBox="1">
            <a:spLocks/>
          </p:cNvSpPr>
          <p:nvPr/>
        </p:nvSpPr>
        <p:spPr>
          <a:xfrm>
            <a:off x="881063" y="365125"/>
            <a:ext cx="10883045" cy="6397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Function Definition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A462A8-C54A-4B71-BB2E-AB7819151FBA}"/>
              </a:ext>
            </a:extLst>
          </p:cNvPr>
          <p:cNvSpPr txBox="1"/>
          <p:nvPr/>
        </p:nvSpPr>
        <p:spPr>
          <a:xfrm>
            <a:off x="881063" y="1213338"/>
            <a:ext cx="10689614" cy="3726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/>
              <a:t>Function Name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함수의 결과값</a:t>
            </a:r>
            <a:r>
              <a:rPr lang="en-US" altLang="ko-KR" sz="2000" dirty="0"/>
              <a:t>(return value)</a:t>
            </a:r>
            <a:r>
              <a:rPr lang="ko-KR" altLang="en-US" sz="2000" dirty="0"/>
              <a:t>를 함수에서 호출한 부분</a:t>
            </a:r>
            <a:r>
              <a:rPr lang="en-US" altLang="ko-KR" sz="2000" dirty="0"/>
              <a:t>(caller)</a:t>
            </a:r>
            <a:r>
              <a:rPr lang="ko-KR" altLang="en-US" sz="2000" dirty="0"/>
              <a:t>부분으로 전달</a:t>
            </a:r>
            <a:endParaRPr lang="en-US" altLang="ko-KR" sz="2000" dirty="0"/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함수 이름과 동일한 이름의 변수가 함수 내부에서 선언 됨</a:t>
            </a:r>
            <a:endParaRPr lang="en-US" altLang="ko-KR" sz="2000" dirty="0"/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함수가 정의되는 영역에서 함수이름과 동일한 이름의 변수 선언은 허용되지 않음</a:t>
            </a:r>
            <a:endParaRPr lang="en-US" altLang="ko-KR" sz="2000" dirty="0"/>
          </a:p>
          <a:p>
            <a:pPr marL="914400" lvl="1" indent="-457200">
              <a:buFont typeface="+mj-lt"/>
              <a:buAutoNum type="arabicPeriod"/>
            </a:pPr>
            <a:endParaRPr lang="en-US" altLang="ko-KR" sz="20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altLang="ko-KR" sz="2000" b="1" dirty="0"/>
              <a:t>Function Parameter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함수를 호출하는 부분에서 함수 내부로 값을 전달</a:t>
            </a:r>
            <a:endParaRPr lang="en-US" altLang="ko-KR" sz="2000" dirty="0"/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/>
              <a:t>Input</a:t>
            </a:r>
            <a:r>
              <a:rPr lang="ko-KR" altLang="en-US" sz="2000" dirty="0"/>
              <a:t>으로만 선언</a:t>
            </a:r>
            <a:endParaRPr lang="en-US" altLang="ko-KR" sz="2000" dirty="0"/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반드시 하나 이상의 </a:t>
            </a:r>
            <a:r>
              <a:rPr lang="en-US" altLang="ko-KR" sz="2000" dirty="0"/>
              <a:t>parameter</a:t>
            </a:r>
            <a:r>
              <a:rPr lang="ko-KR" altLang="en-US" sz="2000" dirty="0"/>
              <a:t>를 가져야 함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711432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C71FE-63F0-4D1A-AD8B-3B0AD1741022}"/>
              </a:ext>
            </a:extLst>
          </p:cNvPr>
          <p:cNvSpPr txBox="1">
            <a:spLocks/>
          </p:cNvSpPr>
          <p:nvPr/>
        </p:nvSpPr>
        <p:spPr>
          <a:xfrm>
            <a:off x="881063" y="365125"/>
            <a:ext cx="10883045" cy="6397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Function Definition : example</a:t>
            </a:r>
            <a:endParaRPr lang="ko-KR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ED4A18-512F-4BCB-96C6-F965F1287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78" y="2224087"/>
            <a:ext cx="4800600" cy="24098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CE87645-6A8E-42C7-8D72-15048FB2D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1508" y="2224087"/>
            <a:ext cx="5790433" cy="2409825"/>
          </a:xfrm>
          <a:prstGeom prst="rect">
            <a:avLst/>
          </a:prstGeom>
        </p:spPr>
      </p:pic>
      <p:sp>
        <p:nvSpPr>
          <p:cNvPr id="5" name="Equals 4">
            <a:extLst>
              <a:ext uri="{FF2B5EF4-FFF2-40B4-BE49-F238E27FC236}">
                <a16:creationId xmlns:a16="http://schemas.microsoft.com/office/drawing/2014/main" id="{97E6561D-F9A6-4428-8374-5C3998DAFBCF}"/>
              </a:ext>
            </a:extLst>
          </p:cNvPr>
          <p:cNvSpPr/>
          <p:nvPr/>
        </p:nvSpPr>
        <p:spPr>
          <a:xfrm>
            <a:off x="5523035" y="3358660"/>
            <a:ext cx="378069" cy="351693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E59B84-E0F5-4E2F-929B-A9D90E77F662}"/>
              </a:ext>
            </a:extLst>
          </p:cNvPr>
          <p:cNvSpPr/>
          <p:nvPr/>
        </p:nvSpPr>
        <p:spPr>
          <a:xfrm>
            <a:off x="1318846" y="2224087"/>
            <a:ext cx="1380392" cy="220175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A800B7-AF49-466E-B6CB-2CC4DE2160A2}"/>
              </a:ext>
            </a:extLst>
          </p:cNvPr>
          <p:cNvSpPr/>
          <p:nvPr/>
        </p:nvSpPr>
        <p:spPr>
          <a:xfrm>
            <a:off x="7423638" y="2334174"/>
            <a:ext cx="1380392" cy="220175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24FFDB-D30F-4982-9A13-965B6DD906EA}"/>
              </a:ext>
            </a:extLst>
          </p:cNvPr>
          <p:cNvSpPr/>
          <p:nvPr/>
        </p:nvSpPr>
        <p:spPr>
          <a:xfrm>
            <a:off x="881063" y="2444261"/>
            <a:ext cx="1589575" cy="220175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2B87C5-1575-4025-90B3-19A59823DF4A}"/>
              </a:ext>
            </a:extLst>
          </p:cNvPr>
          <p:cNvSpPr/>
          <p:nvPr/>
        </p:nvSpPr>
        <p:spPr>
          <a:xfrm>
            <a:off x="8911371" y="2334173"/>
            <a:ext cx="2096598" cy="220175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7882F0-4943-41D1-9F90-D8D192DE84FE}"/>
              </a:ext>
            </a:extLst>
          </p:cNvPr>
          <p:cNvSpPr/>
          <p:nvPr/>
        </p:nvSpPr>
        <p:spPr>
          <a:xfrm>
            <a:off x="1186962" y="3956538"/>
            <a:ext cx="2189284" cy="316524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C7BB47-4E9F-41CB-918D-059EA0115BCB}"/>
              </a:ext>
            </a:extLst>
          </p:cNvPr>
          <p:cNvSpPr/>
          <p:nvPr/>
        </p:nvSpPr>
        <p:spPr>
          <a:xfrm>
            <a:off x="7274169" y="3560883"/>
            <a:ext cx="2467708" cy="316524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6469555-FA2F-4A00-8DE7-25093BA26452}"/>
              </a:ext>
            </a:extLst>
          </p:cNvPr>
          <p:cNvCxnSpPr>
            <a:stCxn id="6" idx="0"/>
          </p:cNvCxnSpPr>
          <p:nvPr/>
        </p:nvCxnSpPr>
        <p:spPr>
          <a:xfrm flipV="1">
            <a:off x="2009042" y="1600200"/>
            <a:ext cx="2589335" cy="623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FF25202-64E5-4EA7-BFC9-31C72E0D7E30}"/>
              </a:ext>
            </a:extLst>
          </p:cNvPr>
          <p:cNvCxnSpPr>
            <a:stCxn id="7" idx="0"/>
          </p:cNvCxnSpPr>
          <p:nvPr/>
        </p:nvCxnSpPr>
        <p:spPr>
          <a:xfrm flipH="1" flipV="1">
            <a:off x="4800600" y="1600200"/>
            <a:ext cx="3313234" cy="7339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53479BB-4432-43C9-A31E-3857F1987EE1}"/>
              </a:ext>
            </a:extLst>
          </p:cNvPr>
          <p:cNvSpPr txBox="1"/>
          <p:nvPr/>
        </p:nvSpPr>
        <p:spPr>
          <a:xfrm>
            <a:off x="2940294" y="1173196"/>
            <a:ext cx="3516923" cy="369332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Function name / Return type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A7A5981-AF84-428C-A054-FBE4AAA6A65F}"/>
              </a:ext>
            </a:extLst>
          </p:cNvPr>
          <p:cNvCxnSpPr>
            <a:stCxn id="8" idx="3"/>
          </p:cNvCxnSpPr>
          <p:nvPr/>
        </p:nvCxnSpPr>
        <p:spPr>
          <a:xfrm flipV="1">
            <a:off x="2470638" y="1542528"/>
            <a:ext cx="5926016" cy="10118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28C7750-9DBE-498D-844C-84E47CE69778}"/>
              </a:ext>
            </a:extLst>
          </p:cNvPr>
          <p:cNvCxnSpPr>
            <a:stCxn id="9" idx="0"/>
          </p:cNvCxnSpPr>
          <p:nvPr/>
        </p:nvCxnSpPr>
        <p:spPr>
          <a:xfrm flipH="1" flipV="1">
            <a:off x="8508023" y="1542528"/>
            <a:ext cx="1451647" cy="7916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359B039-978B-42CF-B744-32836F32A012}"/>
              </a:ext>
            </a:extLst>
          </p:cNvPr>
          <p:cNvSpPr txBox="1"/>
          <p:nvPr/>
        </p:nvSpPr>
        <p:spPr>
          <a:xfrm>
            <a:off x="7726972" y="1118793"/>
            <a:ext cx="1845836" cy="369332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Parameter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49952DA-B603-41B5-92E8-FE6FA64F1E8E}"/>
              </a:ext>
            </a:extLst>
          </p:cNvPr>
          <p:cNvCxnSpPr>
            <a:stCxn id="10" idx="2"/>
          </p:cNvCxnSpPr>
          <p:nvPr/>
        </p:nvCxnSpPr>
        <p:spPr>
          <a:xfrm>
            <a:off x="2281604" y="4273062"/>
            <a:ext cx="3530111" cy="11957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C5DC63B-8D1A-42A4-9901-166FB532639B}"/>
              </a:ext>
            </a:extLst>
          </p:cNvPr>
          <p:cNvCxnSpPr>
            <a:stCxn id="11" idx="2"/>
          </p:cNvCxnSpPr>
          <p:nvPr/>
        </p:nvCxnSpPr>
        <p:spPr>
          <a:xfrm flipH="1">
            <a:off x="6013938" y="3877407"/>
            <a:ext cx="2494085" cy="15914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8D8A574-3304-4161-9AFC-27374BE823E1}"/>
              </a:ext>
            </a:extLst>
          </p:cNvPr>
          <p:cNvSpPr txBox="1"/>
          <p:nvPr/>
        </p:nvSpPr>
        <p:spPr>
          <a:xfrm>
            <a:off x="4800600" y="5600673"/>
            <a:ext cx="2284534" cy="36933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Result Expression</a:t>
            </a:r>
          </a:p>
        </p:txBody>
      </p:sp>
    </p:spTree>
    <p:extLst>
      <p:ext uri="{BB962C8B-B14F-4D97-AF65-F5344CB8AC3E}">
        <p14:creationId xmlns:p14="http://schemas.microsoft.com/office/powerpoint/2010/main" val="1891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99443-8061-4225-9B9F-C59DF5CDD31A}"/>
              </a:ext>
            </a:extLst>
          </p:cNvPr>
          <p:cNvSpPr txBox="1">
            <a:spLocks/>
          </p:cNvSpPr>
          <p:nvPr/>
        </p:nvSpPr>
        <p:spPr>
          <a:xfrm>
            <a:off x="881063" y="365125"/>
            <a:ext cx="10883045" cy="6397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Calling function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FB4D83-2B39-4BA0-92BD-E92CEA00107A}"/>
              </a:ext>
            </a:extLst>
          </p:cNvPr>
          <p:cNvSpPr txBox="1"/>
          <p:nvPr/>
        </p:nvSpPr>
        <p:spPr>
          <a:xfrm>
            <a:off x="881063" y="1213338"/>
            <a:ext cx="10689614" cy="4957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/>
              <a:t>Calling function(</a:t>
            </a:r>
            <a:r>
              <a:rPr lang="ko-KR" altLang="en-US" sz="2000" b="1" dirty="0"/>
              <a:t>함수 호출</a:t>
            </a:r>
            <a:r>
              <a:rPr lang="en-US" altLang="ko-KR" sz="2000" b="1" dirty="0"/>
              <a:t>)</a:t>
            </a:r>
            <a:endParaRPr lang="en-US" sz="2000" b="1" dirty="0"/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 err="1"/>
              <a:t>할당문</a:t>
            </a:r>
            <a:r>
              <a:rPr lang="en-US" altLang="ko-KR" sz="2000" dirty="0"/>
              <a:t>(=)</a:t>
            </a:r>
            <a:r>
              <a:rPr lang="ko-KR" altLang="en-US" sz="2000" dirty="0"/>
              <a:t>의 </a:t>
            </a:r>
            <a:r>
              <a:rPr lang="en-US" altLang="ko-KR" sz="2000" dirty="0"/>
              <a:t>RHS</a:t>
            </a:r>
            <a:r>
              <a:rPr lang="ko-KR" altLang="en-US" sz="2000" dirty="0"/>
              <a:t>에서 단독으로 호출</a:t>
            </a:r>
            <a:endParaRPr lang="en-US" altLang="ko-KR" sz="2000" dirty="0"/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할당문의</a:t>
            </a:r>
            <a:r>
              <a:rPr lang="en-US" altLang="ko-KR" sz="2000" dirty="0"/>
              <a:t> RHS</a:t>
            </a:r>
            <a:r>
              <a:rPr lang="ko-KR" altLang="en-US" sz="2000" dirty="0"/>
              <a:t>에서 피연산자</a:t>
            </a:r>
            <a:r>
              <a:rPr lang="en-US" altLang="ko-KR" sz="2000" dirty="0"/>
              <a:t>(operand)</a:t>
            </a:r>
            <a:r>
              <a:rPr lang="ko-KR" altLang="en-US" sz="2000" dirty="0"/>
              <a:t>로 사용되어 호출</a:t>
            </a:r>
            <a:endParaRPr lang="en-US" altLang="ko-KR" sz="2000" dirty="0"/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ko-KR" sz="2000" b="1" dirty="0"/>
              <a:t>Example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altLang="ko-KR" sz="20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altLang="ko-KR" sz="20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altLang="ko-KR" sz="20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altLang="ko-KR" sz="20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altLang="ko-KR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83A01E-3957-476F-9699-AF210E621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652" y="4222506"/>
            <a:ext cx="6715125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462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28995-6D6C-47A4-82EB-4D5A86D18756}"/>
              </a:ext>
            </a:extLst>
          </p:cNvPr>
          <p:cNvSpPr txBox="1">
            <a:spLocks/>
          </p:cNvSpPr>
          <p:nvPr/>
        </p:nvSpPr>
        <p:spPr>
          <a:xfrm>
            <a:off x="881063" y="365125"/>
            <a:ext cx="10883045" cy="6397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Rules for using a function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AC3FF6-790B-4D8D-8051-F6453C5B266B}"/>
              </a:ext>
            </a:extLst>
          </p:cNvPr>
          <p:cNvSpPr txBox="1"/>
          <p:nvPr/>
        </p:nvSpPr>
        <p:spPr>
          <a:xfrm>
            <a:off x="881063" y="1213338"/>
            <a:ext cx="10689614" cy="5418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altLang="ko-KR" sz="2000" b="1" dirty="0"/>
              <a:t>Rules for function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함수는 하나 이상의 입력</a:t>
            </a:r>
            <a:r>
              <a:rPr lang="en-US" altLang="ko-KR" sz="2000" dirty="0"/>
              <a:t>(input)</a:t>
            </a:r>
            <a:r>
              <a:rPr lang="ko-KR" altLang="en-US" sz="2000" dirty="0"/>
              <a:t> </a:t>
            </a:r>
            <a:r>
              <a:rPr lang="en-US" altLang="ko-KR" sz="2000" dirty="0"/>
              <a:t>parameter</a:t>
            </a:r>
            <a:r>
              <a:rPr lang="ko-KR" altLang="en-US" sz="2000" dirty="0"/>
              <a:t>를 포함</a:t>
            </a:r>
            <a:endParaRPr lang="en-US" altLang="ko-KR" sz="2000" dirty="0"/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함수는 </a:t>
            </a:r>
            <a:r>
              <a:rPr lang="en-US" altLang="ko-KR" sz="2000" dirty="0"/>
              <a:t>output/</a:t>
            </a:r>
            <a:r>
              <a:rPr lang="en-US" altLang="ko-KR" sz="2000" dirty="0" err="1"/>
              <a:t>inout</a:t>
            </a:r>
            <a:r>
              <a:rPr lang="ko-KR" altLang="en-US" sz="2000" dirty="0"/>
              <a:t>으로 선언된 </a:t>
            </a:r>
            <a:r>
              <a:rPr lang="en-US" altLang="ko-KR" sz="2000" dirty="0"/>
              <a:t>parameter</a:t>
            </a:r>
            <a:r>
              <a:rPr lang="ko-KR" altLang="en-US" sz="2000" dirty="0"/>
              <a:t>를 가지지 않음</a:t>
            </a:r>
            <a:endParaRPr lang="en-US" altLang="ko-KR" sz="2000" dirty="0"/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함수는 타이밍제어 </a:t>
            </a:r>
            <a:r>
              <a:rPr lang="en-US" altLang="ko-KR" sz="2000" dirty="0"/>
              <a:t>statement</a:t>
            </a:r>
            <a:r>
              <a:rPr lang="ko-KR" altLang="en-US" sz="2000" dirty="0"/>
              <a:t>를 사용할 수 없다</a:t>
            </a:r>
            <a:endParaRPr lang="en-US" altLang="ko-KR" sz="2000" dirty="0"/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함수 내부에 </a:t>
            </a:r>
            <a:r>
              <a:rPr lang="en-US" altLang="ko-KR" sz="2000" dirty="0"/>
              <a:t>timing expression(#, @ wait …)</a:t>
            </a:r>
            <a:r>
              <a:rPr lang="ko-KR" altLang="en-US" sz="2000" dirty="0"/>
              <a:t>을 가질 수 없음</a:t>
            </a:r>
            <a:endParaRPr lang="en-US" altLang="ko-KR" sz="2000" dirty="0"/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함수 이름과 동일한 이름의 내부 변수에 함수의 결과 값을 할당하는 문장을 포함</a:t>
            </a:r>
            <a:endParaRPr lang="en-US" altLang="ko-KR" sz="2000" dirty="0"/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함수는</a:t>
            </a:r>
            <a:r>
              <a:rPr lang="en-US" altLang="ko-KR" sz="2000" dirty="0"/>
              <a:t> nonblocking </a:t>
            </a:r>
            <a:r>
              <a:rPr lang="ko-KR" altLang="en-US" sz="2000" dirty="0"/>
              <a:t>할당을 가질 수 없다</a:t>
            </a:r>
            <a:endParaRPr lang="en-US" altLang="ko-KR" sz="2000" dirty="0"/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함수는 </a:t>
            </a:r>
            <a:r>
              <a:rPr lang="en-US" altLang="ko-KR" sz="2000" dirty="0"/>
              <a:t>task</a:t>
            </a:r>
            <a:r>
              <a:rPr lang="ko-KR" altLang="en-US" sz="2000" dirty="0"/>
              <a:t>를 호출할 수 없다</a:t>
            </a:r>
            <a:endParaRPr lang="en-US" altLang="ko-KR" sz="20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altLang="ko-KR" sz="20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altLang="ko-KR" sz="20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altLang="ko-KR" sz="20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4261356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CE0A52-0F1E-F6F2-4817-2B28DEAB3C9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309001"/>
            <a:ext cx="10515600" cy="620713"/>
          </a:xfrm>
        </p:spPr>
        <p:txBody>
          <a:bodyPr>
            <a:normAutofit/>
          </a:bodyPr>
          <a:lstStyle/>
          <a:p>
            <a:r>
              <a:rPr lang="en-US" sz="3200" dirty="0"/>
              <a:t>LAB1</a:t>
            </a:r>
            <a:r>
              <a:rPr lang="ko-KR" altLang="en-US" sz="3200" dirty="0"/>
              <a:t> </a:t>
            </a:r>
            <a:r>
              <a:rPr lang="en-US" altLang="ko-KR" sz="3200" dirty="0"/>
              <a:t>:</a:t>
            </a:r>
            <a:r>
              <a:rPr lang="ko-KR" altLang="en-US" sz="3200" dirty="0"/>
              <a:t> </a:t>
            </a:r>
            <a:r>
              <a:rPr lang="en-US" altLang="ko-KR" sz="3200" dirty="0"/>
              <a:t>DUT(Word Aligner)</a:t>
            </a:r>
            <a:endParaRPr lang="en-CA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69ECB8-93FC-48DF-A838-0D69AB7D08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346200"/>
            <a:ext cx="4076143" cy="19192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C5479BA-4EF8-4850-852E-F5F5CCBBD9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8869" y="1346200"/>
            <a:ext cx="4732094" cy="3670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322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CE0A52-0F1E-F6F2-4817-2B28DEAB3C9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309001"/>
            <a:ext cx="10515600" cy="620713"/>
          </a:xfrm>
        </p:spPr>
        <p:txBody>
          <a:bodyPr>
            <a:normAutofit/>
          </a:bodyPr>
          <a:lstStyle/>
          <a:p>
            <a:r>
              <a:rPr lang="en-US" sz="3200" dirty="0"/>
              <a:t>LAB1</a:t>
            </a:r>
            <a:r>
              <a:rPr lang="ko-KR" altLang="en-US" sz="3200" dirty="0"/>
              <a:t> </a:t>
            </a:r>
            <a:r>
              <a:rPr lang="en-US" altLang="ko-KR" sz="3200" dirty="0"/>
              <a:t>:</a:t>
            </a:r>
            <a:r>
              <a:rPr lang="ko-KR" altLang="en-US" sz="3200" dirty="0"/>
              <a:t> </a:t>
            </a:r>
            <a:r>
              <a:rPr lang="en-US" altLang="ko-KR" sz="3200" dirty="0"/>
              <a:t>Test Bench</a:t>
            </a:r>
            <a:endParaRPr lang="en-CA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0506DC-E92A-460F-B81A-6DB605086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156" y="1091711"/>
            <a:ext cx="4695825" cy="34480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4DCB7D-D404-45C7-9FD4-D29A2F3434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6567" y="1091711"/>
            <a:ext cx="4886325" cy="521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979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97D506-1D61-78BB-9206-899F08D9607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54342" y="365925"/>
            <a:ext cx="10515600" cy="620713"/>
          </a:xfrm>
        </p:spPr>
        <p:txBody>
          <a:bodyPr>
            <a:normAutofit/>
          </a:bodyPr>
          <a:lstStyle/>
          <a:p>
            <a:r>
              <a:rPr lang="en-US" sz="3200" dirty="0"/>
              <a:t>LAB1</a:t>
            </a:r>
            <a:r>
              <a:rPr lang="ko-KR" altLang="en-US" sz="3200" dirty="0"/>
              <a:t> </a:t>
            </a:r>
            <a:r>
              <a:rPr lang="en-US" altLang="ko-KR" sz="3200" dirty="0"/>
              <a:t>: Waveform</a:t>
            </a:r>
            <a:r>
              <a:rPr lang="ko-KR" altLang="en-US" sz="3200" dirty="0"/>
              <a:t> </a:t>
            </a:r>
            <a:endParaRPr lang="en-CA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9FC80C-099D-4B04-B4BE-D724D73E0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23" y="2458182"/>
            <a:ext cx="9667875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434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45C10B-FE32-0C97-4059-C66A70977A0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19854" y="311490"/>
            <a:ext cx="10515600" cy="620713"/>
          </a:xfrm>
        </p:spPr>
        <p:txBody>
          <a:bodyPr>
            <a:normAutofit/>
          </a:bodyPr>
          <a:lstStyle/>
          <a:p>
            <a:r>
              <a:rPr lang="en-US" sz="3200" dirty="0"/>
              <a:t>LAB2 </a:t>
            </a:r>
            <a:r>
              <a:rPr lang="en-US" altLang="ko-KR" sz="3200" dirty="0"/>
              <a:t>:</a:t>
            </a:r>
            <a:r>
              <a:rPr lang="ko-KR" altLang="en-US" sz="3200" dirty="0"/>
              <a:t> </a:t>
            </a:r>
            <a:r>
              <a:rPr lang="en-US" altLang="ko-KR" sz="3200" dirty="0"/>
              <a:t>DUT / Testbench (factorial)</a:t>
            </a:r>
            <a:endParaRPr lang="en-CA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0D268B-20DE-447F-CEC8-3F3021FC82F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20118" y="1053663"/>
            <a:ext cx="10515600" cy="5056188"/>
          </a:xfrm>
        </p:spPr>
        <p:txBody>
          <a:bodyPr/>
          <a:lstStyle/>
          <a:p>
            <a:pPr marL="0" indent="0">
              <a:buNone/>
            </a:pPr>
            <a:endParaRPr lang="en-CA" altLang="ko-KR" dirty="0"/>
          </a:p>
          <a:p>
            <a:pPr lvl="1"/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0928F8-0B71-4051-86A3-B5871AEDE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84" y="2478322"/>
            <a:ext cx="4644556" cy="232227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8FB2D0C-39AE-4D49-8B15-31F6BFC6B7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901" y="2478322"/>
            <a:ext cx="5736981" cy="199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4975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97D506-1D61-78BB-9206-899F08D9607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54342" y="365925"/>
            <a:ext cx="10515600" cy="620713"/>
          </a:xfrm>
        </p:spPr>
        <p:txBody>
          <a:bodyPr>
            <a:normAutofit/>
          </a:bodyPr>
          <a:lstStyle/>
          <a:p>
            <a:r>
              <a:rPr lang="en-US" sz="3200" dirty="0"/>
              <a:t>LAB2</a:t>
            </a:r>
            <a:r>
              <a:rPr lang="ko-KR" altLang="en-US" sz="3200" dirty="0"/>
              <a:t> </a:t>
            </a:r>
            <a:r>
              <a:rPr lang="en-US" altLang="ko-KR" sz="3200" dirty="0"/>
              <a:t>: Display Result</a:t>
            </a:r>
            <a:endParaRPr lang="en-CA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99B1E0-1253-4BD2-9E8A-DC46CAD43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9746" y="2570651"/>
            <a:ext cx="6696075" cy="1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0896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D48BAA-9ADC-45C7-B6D0-CBF70C034ED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BD4A0B-A2EA-4823-857A-3B47982FEFD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A9396F-2DC7-9F2F-8212-5AC8FDA5791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4639" y="4935172"/>
            <a:ext cx="11195050" cy="712788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ko-KR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3200" dirty="0">
                <a:latin typeface="Arial" panose="020B0604020202020204" pitchFamily="34" charset="0"/>
                <a:cs typeface="Arial" panose="020B0604020202020204" pitchFamily="34" charset="0"/>
              </a:rPr>
              <a:t>Task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5598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F19A4-A856-4649-B9AC-AD26B50DDE47}"/>
              </a:ext>
            </a:extLst>
          </p:cNvPr>
          <p:cNvSpPr txBox="1">
            <a:spLocks/>
          </p:cNvSpPr>
          <p:nvPr/>
        </p:nvSpPr>
        <p:spPr>
          <a:xfrm>
            <a:off x="881063" y="365125"/>
            <a:ext cx="10883045" cy="6397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Task Definition</a:t>
            </a:r>
            <a:endParaRPr lang="ko-KR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396739-6B0A-4353-B16A-8BFD21DA6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063" y="2324100"/>
            <a:ext cx="4467225" cy="2209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86FC932-DF1E-4507-868F-F4CC7B454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6777" y="2324100"/>
            <a:ext cx="3920890" cy="22098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7990D21-C102-4372-99A6-90A180E56DFC}"/>
              </a:ext>
            </a:extLst>
          </p:cNvPr>
          <p:cNvSpPr/>
          <p:nvPr/>
        </p:nvSpPr>
        <p:spPr>
          <a:xfrm>
            <a:off x="2382715" y="2324101"/>
            <a:ext cx="1538654" cy="279888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35B70F-CAE9-40B5-BA37-A1171B6E7623}"/>
              </a:ext>
            </a:extLst>
          </p:cNvPr>
          <p:cNvSpPr/>
          <p:nvPr/>
        </p:nvSpPr>
        <p:spPr>
          <a:xfrm>
            <a:off x="7458568" y="2603989"/>
            <a:ext cx="1430455" cy="20955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4E102AD-7256-436E-BA12-D9E3531DA0B7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3152042" y="1468317"/>
            <a:ext cx="2580543" cy="8557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DA8728F-E74B-4840-ABD2-067238C41126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5908432" y="1485901"/>
            <a:ext cx="2265364" cy="1118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706C411-3B6F-42AC-AF52-ACD9C7085B1F}"/>
              </a:ext>
            </a:extLst>
          </p:cNvPr>
          <p:cNvSpPr txBox="1"/>
          <p:nvPr/>
        </p:nvSpPr>
        <p:spPr>
          <a:xfrm>
            <a:off x="5348289" y="1072662"/>
            <a:ext cx="1289904" cy="369332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Task Input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1981DE-2D18-4F7E-8933-6373A096BD60}"/>
              </a:ext>
            </a:extLst>
          </p:cNvPr>
          <p:cNvSpPr/>
          <p:nvPr/>
        </p:nvSpPr>
        <p:spPr>
          <a:xfrm>
            <a:off x="2382715" y="2603989"/>
            <a:ext cx="1828800" cy="27988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B9A33B-7C81-4EE8-BECC-7872E3E3D018}"/>
              </a:ext>
            </a:extLst>
          </p:cNvPr>
          <p:cNvSpPr/>
          <p:nvPr/>
        </p:nvSpPr>
        <p:spPr>
          <a:xfrm>
            <a:off x="7458568" y="2839916"/>
            <a:ext cx="1828800" cy="27988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47607CB-C906-42E7-AE7D-15F59F0B8A45}"/>
              </a:ext>
            </a:extLst>
          </p:cNvPr>
          <p:cNvCxnSpPr/>
          <p:nvPr/>
        </p:nvCxnSpPr>
        <p:spPr>
          <a:xfrm flipV="1">
            <a:off x="4211515" y="1441994"/>
            <a:ext cx="3894993" cy="13019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0F4E5F7-2A57-431D-B9E2-4216F26EDD0A}"/>
              </a:ext>
            </a:extLst>
          </p:cNvPr>
          <p:cNvCxnSpPr/>
          <p:nvPr/>
        </p:nvCxnSpPr>
        <p:spPr>
          <a:xfrm flipH="1" flipV="1">
            <a:off x="8173795" y="1616036"/>
            <a:ext cx="199173" cy="12238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B7F4889-B2D5-4A88-B9BC-F57B6A33A7E7}"/>
              </a:ext>
            </a:extLst>
          </p:cNvPr>
          <p:cNvSpPr txBox="1"/>
          <p:nvPr/>
        </p:nvSpPr>
        <p:spPr>
          <a:xfrm>
            <a:off x="8173795" y="1135051"/>
            <a:ext cx="1849436" cy="36933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Task Output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461551-B963-42F1-A525-CB0116F4C2CB}"/>
              </a:ext>
            </a:extLst>
          </p:cNvPr>
          <p:cNvSpPr/>
          <p:nvPr/>
        </p:nvSpPr>
        <p:spPr>
          <a:xfrm>
            <a:off x="1916723" y="3119804"/>
            <a:ext cx="2444262" cy="108328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9DBF7A6-02C5-4F94-834D-2DA58B9F3777}"/>
              </a:ext>
            </a:extLst>
          </p:cNvPr>
          <p:cNvSpPr/>
          <p:nvPr/>
        </p:nvSpPr>
        <p:spPr>
          <a:xfrm>
            <a:off x="7458568" y="3196554"/>
            <a:ext cx="2444262" cy="108328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595B7D7-B833-4BCB-AACB-08893800B888}"/>
              </a:ext>
            </a:extLst>
          </p:cNvPr>
          <p:cNvCxnSpPr/>
          <p:nvPr/>
        </p:nvCxnSpPr>
        <p:spPr>
          <a:xfrm>
            <a:off x="3138854" y="4203089"/>
            <a:ext cx="2699238" cy="11074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6A3C0FD-0E37-46FD-96AA-7DADC23784FF}"/>
              </a:ext>
            </a:extLst>
          </p:cNvPr>
          <p:cNvCxnSpPr/>
          <p:nvPr/>
        </p:nvCxnSpPr>
        <p:spPr>
          <a:xfrm flipH="1">
            <a:off x="5993241" y="4299438"/>
            <a:ext cx="2702351" cy="10111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5DA158E-8E01-4E64-AE46-4B7EA54B2746}"/>
              </a:ext>
            </a:extLst>
          </p:cNvPr>
          <p:cNvSpPr txBox="1"/>
          <p:nvPr/>
        </p:nvSpPr>
        <p:spPr>
          <a:xfrm>
            <a:off x="4926077" y="5380781"/>
            <a:ext cx="3247718" cy="36933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Procedural Statement</a:t>
            </a:r>
          </a:p>
        </p:txBody>
      </p:sp>
      <p:sp>
        <p:nvSpPr>
          <p:cNvPr id="29" name="Equals 28">
            <a:extLst>
              <a:ext uri="{FF2B5EF4-FFF2-40B4-BE49-F238E27FC236}">
                <a16:creationId xmlns:a16="http://schemas.microsoft.com/office/drawing/2014/main" id="{F8524DBD-9D78-4238-8886-BD4229AAA4C7}"/>
              </a:ext>
            </a:extLst>
          </p:cNvPr>
          <p:cNvSpPr/>
          <p:nvPr/>
        </p:nvSpPr>
        <p:spPr>
          <a:xfrm>
            <a:off x="5908432" y="3314700"/>
            <a:ext cx="568201" cy="327036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54071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97D506-1D61-78BB-9206-899F08D9607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54342" y="365925"/>
            <a:ext cx="10515600" cy="620713"/>
          </a:xfrm>
        </p:spPr>
        <p:txBody>
          <a:bodyPr>
            <a:normAutofit/>
          </a:bodyPr>
          <a:lstStyle/>
          <a:p>
            <a:r>
              <a:rPr lang="en-US" sz="3200" dirty="0"/>
              <a:t>LAB1</a:t>
            </a:r>
            <a:r>
              <a:rPr lang="ko-KR" altLang="en-US" sz="3200" dirty="0"/>
              <a:t> </a:t>
            </a:r>
            <a:r>
              <a:rPr lang="en-US" altLang="ko-KR" sz="3200" dirty="0"/>
              <a:t>: DUT / Test Bench</a:t>
            </a:r>
            <a:endParaRPr lang="en-CA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4AA156-F255-48C6-A61B-7B144F674B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651" y="1171277"/>
            <a:ext cx="4866542" cy="506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1209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97D506-1D61-78BB-9206-899F08D9607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54342" y="365925"/>
            <a:ext cx="10515600" cy="620713"/>
          </a:xfrm>
        </p:spPr>
        <p:txBody>
          <a:bodyPr>
            <a:normAutofit/>
          </a:bodyPr>
          <a:lstStyle/>
          <a:p>
            <a:r>
              <a:rPr lang="en-US" sz="3200" dirty="0"/>
              <a:t>LAB1</a:t>
            </a:r>
            <a:r>
              <a:rPr lang="ko-KR" altLang="en-US" sz="3200" dirty="0"/>
              <a:t> </a:t>
            </a:r>
            <a:r>
              <a:rPr lang="en-US" altLang="ko-KR" sz="3200" dirty="0"/>
              <a:t>: Waveform</a:t>
            </a:r>
            <a:r>
              <a:rPr lang="ko-KR" altLang="en-US" sz="3200" dirty="0"/>
              <a:t> </a:t>
            </a:r>
            <a:endParaRPr lang="en-CA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74A572-A22F-4927-B563-A20BCDD13D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794" y="2671762"/>
            <a:ext cx="9124950" cy="15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0513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97D506-1D61-78BB-9206-899F08D9607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54342" y="365925"/>
            <a:ext cx="10515600" cy="620713"/>
          </a:xfrm>
        </p:spPr>
        <p:txBody>
          <a:bodyPr>
            <a:normAutofit/>
          </a:bodyPr>
          <a:lstStyle/>
          <a:p>
            <a:r>
              <a:rPr lang="en-US" sz="3200" dirty="0"/>
              <a:t>LAB2</a:t>
            </a:r>
            <a:r>
              <a:rPr lang="ko-KR" altLang="en-US" sz="3200" dirty="0"/>
              <a:t> </a:t>
            </a:r>
            <a:r>
              <a:rPr lang="en-US" altLang="ko-KR" sz="3200" dirty="0"/>
              <a:t>: DUT(bit counter)</a:t>
            </a:r>
            <a:endParaRPr lang="en-CA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D9B028-8D85-4D4A-8840-13E9E69E3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437" y="1558802"/>
            <a:ext cx="4912295" cy="28461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461A18-9190-4EA7-820F-39C579CB2B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7335" y="1558802"/>
            <a:ext cx="5810250" cy="43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4102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CE0A52-0F1E-F6F2-4817-2B28DEAB3C9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309001"/>
            <a:ext cx="10515600" cy="620713"/>
          </a:xfrm>
        </p:spPr>
        <p:txBody>
          <a:bodyPr>
            <a:normAutofit/>
          </a:bodyPr>
          <a:lstStyle/>
          <a:p>
            <a:r>
              <a:rPr lang="en-US" sz="3200" dirty="0"/>
              <a:t>LAB2</a:t>
            </a:r>
            <a:r>
              <a:rPr lang="ko-KR" altLang="en-US" sz="3200" dirty="0"/>
              <a:t> </a:t>
            </a:r>
            <a:r>
              <a:rPr lang="en-US" altLang="ko-KR" sz="3200" dirty="0"/>
              <a:t>:</a:t>
            </a:r>
            <a:r>
              <a:rPr lang="ko-KR" altLang="en-US" sz="3200" dirty="0"/>
              <a:t> </a:t>
            </a:r>
            <a:r>
              <a:rPr lang="en-US" altLang="ko-KR" sz="3200" dirty="0"/>
              <a:t>Test Bench</a:t>
            </a:r>
            <a:endParaRPr lang="en-CA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4220A3-7835-4B67-9A32-85B4FAB87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6404" y="1149960"/>
            <a:ext cx="3575011" cy="472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3599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97D506-1D61-78BB-9206-899F08D9607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54342" y="365925"/>
            <a:ext cx="10515600" cy="620713"/>
          </a:xfrm>
        </p:spPr>
        <p:txBody>
          <a:bodyPr>
            <a:normAutofit/>
          </a:bodyPr>
          <a:lstStyle/>
          <a:p>
            <a:r>
              <a:rPr lang="en-US" sz="3200" dirty="0"/>
              <a:t>LAB2</a:t>
            </a:r>
            <a:r>
              <a:rPr lang="ko-KR" altLang="en-US" sz="3200" dirty="0"/>
              <a:t> </a:t>
            </a:r>
            <a:r>
              <a:rPr lang="en-US" altLang="ko-KR" sz="3200" dirty="0"/>
              <a:t>: Waveform</a:t>
            </a:r>
            <a:r>
              <a:rPr lang="ko-KR" altLang="en-US" sz="3200" dirty="0"/>
              <a:t> </a:t>
            </a:r>
            <a:endParaRPr lang="en-CA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34F9D8-5A6C-4A79-8030-B0B6E4326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950" y="2881312"/>
            <a:ext cx="9182100" cy="109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72954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14012</TotalTime>
  <Words>311</Words>
  <Application>Microsoft Office PowerPoint</Application>
  <PresentationFormat>Widescreen</PresentationFormat>
  <Paragraphs>76</Paragraphs>
  <Slides>21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맑은 고딕</vt:lpstr>
      <vt:lpstr>Rubik Light</vt:lpstr>
      <vt:lpstr>나눔스퀘어 네오 Regular</vt:lpstr>
      <vt:lpstr>Arial</vt:lpstr>
      <vt:lpstr>Wingdings</vt:lpstr>
      <vt:lpstr>Office 테마</vt:lpstr>
      <vt:lpstr>Digital Design 101 | 2026-1</vt:lpstr>
      <vt:lpstr>1. Understanding Function and Task</vt:lpstr>
      <vt:lpstr>Function and Task</vt:lpstr>
      <vt:lpstr>PowerPoint Presentation</vt:lpstr>
      <vt:lpstr>2. Function</vt:lpstr>
      <vt:lpstr>PowerPoint Presentation</vt:lpstr>
      <vt:lpstr>PowerPoint Presentation</vt:lpstr>
      <vt:lpstr>PowerPoint Presentation</vt:lpstr>
      <vt:lpstr>PowerPoint Presentation</vt:lpstr>
      <vt:lpstr>LAB1 : DUT(Word Aligner)</vt:lpstr>
      <vt:lpstr>LAB1 : Test Bench</vt:lpstr>
      <vt:lpstr>LAB1 : Waveform </vt:lpstr>
      <vt:lpstr>LAB2 : DUT / Testbench (factorial)</vt:lpstr>
      <vt:lpstr>LAB2 : Display Result</vt:lpstr>
      <vt:lpstr>3.  Task</vt:lpstr>
      <vt:lpstr>PowerPoint Presentation</vt:lpstr>
      <vt:lpstr>LAB1 : DUT / Test Bench</vt:lpstr>
      <vt:lpstr>LAB1 : Waveform </vt:lpstr>
      <vt:lpstr>LAB2 : DUT(bit counter)</vt:lpstr>
      <vt:lpstr>LAB2 : Test Bench</vt:lpstr>
      <vt:lpstr>LAB2 : Waveform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 Control with PS Part</dc:title>
  <dc:creator>예빈 문</dc:creator>
  <cp:lastModifiedBy>[교원]우승안</cp:lastModifiedBy>
  <cp:revision>745</cp:revision>
  <dcterms:created xsi:type="dcterms:W3CDTF">2024-09-20T05:42:48Z</dcterms:created>
  <dcterms:modified xsi:type="dcterms:W3CDTF">2026-05-26T11:35:53Z</dcterms:modified>
</cp:coreProperties>
</file>