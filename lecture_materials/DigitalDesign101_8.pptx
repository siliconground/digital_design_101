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0" r:id="rId2"/>
    <p:sldId id="14910" r:id="rId3"/>
    <p:sldId id="14849" r:id="rId4"/>
    <p:sldId id="14950" r:id="rId5"/>
    <p:sldId id="14964" r:id="rId6"/>
    <p:sldId id="14965" r:id="rId7"/>
    <p:sldId id="14966" r:id="rId8"/>
    <p:sldId id="14967" r:id="rId9"/>
    <p:sldId id="14968" r:id="rId10"/>
    <p:sldId id="14969" r:id="rId11"/>
    <p:sldId id="14970" r:id="rId12"/>
    <p:sldId id="14971" r:id="rId13"/>
    <p:sldId id="14972" r:id="rId14"/>
    <p:sldId id="14973" r:id="rId15"/>
    <p:sldId id="14975" r:id="rId16"/>
    <p:sldId id="14974" r:id="rId17"/>
    <p:sldId id="14978" r:id="rId18"/>
    <p:sldId id="14976" r:id="rId19"/>
    <p:sldId id="14977" r:id="rId20"/>
    <p:sldId id="14979" r:id="rId21"/>
    <p:sldId id="1498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2284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394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614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920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Design 101 | 2026-1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Session8 : Structural Modeling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Module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Module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203D-D809-4B71-98A3-44FDBA578949}"/>
              </a:ext>
            </a:extLst>
          </p:cNvPr>
          <p:cNvSpPr txBox="1"/>
          <p:nvPr/>
        </p:nvSpPr>
        <p:spPr>
          <a:xfrm>
            <a:off x="881063" y="1213338"/>
            <a:ext cx="521493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Structural Modeling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 </a:t>
            </a:r>
            <a:r>
              <a:rPr lang="ko-KR" altLang="en-US" sz="2000" dirty="0"/>
              <a:t>하위 모듈을 불러오기</a:t>
            </a:r>
            <a:r>
              <a:rPr lang="en-US" altLang="ko-KR" sz="2000" dirty="0"/>
              <a:t>(instantiation)</a:t>
            </a:r>
            <a:r>
              <a:rPr lang="ko-KR" altLang="en-US" sz="2000" dirty="0"/>
              <a:t>하고</a:t>
            </a:r>
            <a:r>
              <a:rPr lang="en-US" altLang="ko-KR" sz="2000" dirty="0"/>
              <a:t>, </a:t>
            </a:r>
            <a:r>
              <a:rPr lang="ko-KR" altLang="en-US" sz="2000" dirty="0"/>
              <a:t>포트 연결을 통해 계층적으로 설계</a:t>
            </a: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ko-KR" sz="2000" b="1" dirty="0"/>
              <a:t>Module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타이틀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module name, port list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ko-KR" sz="2000" b="1" dirty="0"/>
              <a:t>Declaration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Port,</a:t>
            </a:r>
            <a:r>
              <a:rPr lang="ko-KR" altLang="en-US" sz="2000" dirty="0"/>
              <a:t> </a:t>
            </a:r>
            <a:r>
              <a:rPr lang="en-US" altLang="ko-KR" sz="2000" dirty="0"/>
              <a:t>parameter,</a:t>
            </a:r>
            <a:r>
              <a:rPr lang="ko-KR" altLang="en-US" sz="2000" dirty="0"/>
              <a:t> </a:t>
            </a:r>
            <a:r>
              <a:rPr lang="en-US" altLang="ko-KR" sz="2000" dirty="0"/>
              <a:t>type</a:t>
            </a:r>
            <a:r>
              <a:rPr lang="ko-KR" altLang="en-US" sz="2000" dirty="0"/>
              <a:t> 등을 선언</a:t>
            </a: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ko-KR" sz="2000" b="1" dirty="0"/>
              <a:t>Body(Logic modeling)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회로의 동작</a:t>
            </a:r>
            <a:r>
              <a:rPr lang="en-US" altLang="ko-KR" sz="2000" dirty="0"/>
              <a:t>, </a:t>
            </a:r>
            <a:r>
              <a:rPr lang="ko-KR" altLang="en-US" sz="2000" dirty="0"/>
              <a:t>기능</a:t>
            </a:r>
            <a:r>
              <a:rPr lang="en-US" altLang="ko-KR" sz="2000" dirty="0"/>
              <a:t>, </a:t>
            </a:r>
            <a:r>
              <a:rPr lang="ko-KR" altLang="en-US" sz="2000" dirty="0"/>
              <a:t>구조를 표현</a:t>
            </a:r>
            <a:endParaRPr lang="en-US" altLang="ko-KR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4AAFB-67EC-4016-AF19-81FFD5EC6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431" y="802459"/>
            <a:ext cx="3532677" cy="52530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6445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FD43-A32B-4BEC-8F60-437C616627E4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Module Definition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067C6-1FC2-4C74-B238-71492E8D7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67" y="1580051"/>
            <a:ext cx="10534650" cy="1095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0066C2-BA6E-4599-ADF5-DCF8D124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" y="3849382"/>
            <a:ext cx="10467975" cy="1371600"/>
          </a:xfrm>
          <a:prstGeom prst="rect">
            <a:avLst/>
          </a:prstGeom>
        </p:spPr>
      </p:pic>
      <p:sp>
        <p:nvSpPr>
          <p:cNvPr id="6" name="Equals 5">
            <a:extLst>
              <a:ext uri="{FF2B5EF4-FFF2-40B4-BE49-F238E27FC236}">
                <a16:creationId xmlns:a16="http://schemas.microsoft.com/office/drawing/2014/main" id="{7ACAE771-1FDD-4782-998B-9D65AE16B608}"/>
              </a:ext>
            </a:extLst>
          </p:cNvPr>
          <p:cNvSpPr/>
          <p:nvPr/>
        </p:nvSpPr>
        <p:spPr>
          <a:xfrm rot="5400000">
            <a:off x="5990492" y="2675426"/>
            <a:ext cx="348762" cy="498597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77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3FD43-A32B-4BEC-8F60-437C616627E4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0883045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Port Name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7A93FC-1A25-4A10-92E0-D7984DA7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2676891"/>
            <a:ext cx="92297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Port Type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203D-D809-4B71-98A3-44FDBA578949}"/>
              </a:ext>
            </a:extLst>
          </p:cNvPr>
          <p:cNvSpPr txBox="1"/>
          <p:nvPr/>
        </p:nvSpPr>
        <p:spPr>
          <a:xfrm>
            <a:off x="881063" y="1213338"/>
            <a:ext cx="102412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Module Port</a:t>
            </a:r>
            <a:r>
              <a:rPr lang="ko-KR" altLang="en-US" sz="2000" b="1" dirty="0"/>
              <a:t>의 자료형 규칙</a:t>
            </a:r>
            <a:endParaRPr lang="en-US" sz="2000" b="1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 I/O </a:t>
            </a:r>
            <a:r>
              <a:rPr lang="ko-KR" altLang="en-US" sz="2000" dirty="0"/>
              <a:t>방향과 모듈 내</a:t>
            </a:r>
            <a:r>
              <a:rPr lang="en-US" altLang="ko-KR" sz="2000" dirty="0"/>
              <a:t>/</a:t>
            </a:r>
            <a:r>
              <a:rPr lang="ko-KR" altLang="en-US" sz="2000" dirty="0"/>
              <a:t>외부에 따라 포트가 가질 수 있는 자료형이 달라짐</a:t>
            </a:r>
            <a:endParaRPr lang="en-US" altLang="ko-KR" sz="2000" dirty="0"/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Real </a:t>
            </a:r>
            <a:r>
              <a:rPr lang="ko-KR" altLang="en-US" sz="2000" dirty="0"/>
              <a:t>자료형 변수는 모듈 포트에 직접 연결될 수 없음</a:t>
            </a:r>
            <a:endParaRPr lang="en-US" altLang="ko-KR" sz="2000" dirty="0"/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System</a:t>
            </a:r>
            <a:r>
              <a:rPr lang="ko-KR" altLang="en-US" sz="2000" dirty="0"/>
              <a:t> </a:t>
            </a:r>
            <a:r>
              <a:rPr lang="en-US" altLang="ko-KR" sz="2000" dirty="0"/>
              <a:t>Task</a:t>
            </a:r>
            <a:r>
              <a:rPr lang="ko-KR" altLang="en-US" sz="2000" dirty="0"/>
              <a:t> </a:t>
            </a:r>
            <a:r>
              <a:rPr lang="en-US" altLang="ko-KR" sz="2000" dirty="0"/>
              <a:t>$</a:t>
            </a:r>
            <a:r>
              <a:rPr lang="en-US" altLang="ko-KR" sz="2000" dirty="0" err="1"/>
              <a:t>realtobits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$</a:t>
            </a:r>
            <a:r>
              <a:rPr lang="en-US" altLang="ko-KR" sz="2000" dirty="0" err="1"/>
              <a:t>bitstoreal</a:t>
            </a:r>
            <a:r>
              <a:rPr lang="ko-KR" altLang="en-US" sz="2000" dirty="0"/>
              <a:t>을 사용해서 실수와</a:t>
            </a:r>
            <a:r>
              <a:rPr lang="en-US" altLang="ko-KR" sz="2000" dirty="0"/>
              <a:t> 64bit </a:t>
            </a:r>
            <a:r>
              <a:rPr lang="ko-KR" altLang="en-US" sz="2000" dirty="0"/>
              <a:t>벡터 변환</a:t>
            </a: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082A7-BB93-4A30-81FF-8D7D4A197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19" y="3263778"/>
            <a:ext cx="103251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11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Port List and Declaration(1)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D12C0B-B951-4117-9B6F-7B4E08F37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90" y="1259132"/>
            <a:ext cx="80200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9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Port List and Declaration(2)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88D33-54BE-47A2-93BF-4F8B0897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46" y="2198809"/>
            <a:ext cx="53244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6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Module Instance</a:t>
            </a:r>
          </a:p>
        </p:txBody>
      </p:sp>
    </p:spTree>
    <p:extLst>
      <p:ext uri="{BB962C8B-B14F-4D97-AF65-F5344CB8AC3E}">
        <p14:creationId xmlns:p14="http://schemas.microsoft.com/office/powerpoint/2010/main" val="270918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Module Instantiation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203D-D809-4B71-98A3-44FDBA578949}"/>
              </a:ext>
            </a:extLst>
          </p:cNvPr>
          <p:cNvSpPr txBox="1"/>
          <p:nvPr/>
        </p:nvSpPr>
        <p:spPr>
          <a:xfrm>
            <a:off x="881063" y="1213338"/>
            <a:ext cx="90190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Structural Modeling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 </a:t>
            </a:r>
            <a:r>
              <a:rPr lang="ko-KR" altLang="en-US" sz="2000" dirty="0"/>
              <a:t>하위 모듈의 인스턴스와 포트 연결을 통한 모델링</a:t>
            </a: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b="1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범위 지정을 통한 인스턴스 배열의 생성 가능</a:t>
            </a: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모듈 인스턴스 이름은 생략 불가</a:t>
            </a:r>
            <a:endParaRPr lang="en-US" altLang="ko-KR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E8F7B-8EC7-433B-99BC-3C55C68F4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" y="4010391"/>
            <a:ext cx="10525125" cy="5429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9638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Module Parameter and Port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203D-D809-4B71-98A3-44FDBA578949}"/>
              </a:ext>
            </a:extLst>
          </p:cNvPr>
          <p:cNvSpPr txBox="1"/>
          <p:nvPr/>
        </p:nvSpPr>
        <p:spPr>
          <a:xfrm>
            <a:off x="881063" y="1213338"/>
            <a:ext cx="90190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Module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Parameter</a:t>
            </a:r>
            <a:r>
              <a:rPr lang="ko-KR" altLang="en-US" sz="2000" b="1" dirty="0"/>
              <a:t> 값 변경</a:t>
            </a:r>
            <a:endParaRPr lang="en-US" sz="2000" b="1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 </a:t>
            </a:r>
            <a:r>
              <a:rPr lang="ko-KR" altLang="en-US" sz="2000" dirty="0" err="1"/>
              <a:t>인스턴스되는</a:t>
            </a:r>
            <a:r>
              <a:rPr lang="ko-KR" altLang="en-US" sz="2000" dirty="0"/>
              <a:t> 모듈이 파라미터를 갖는 경우에는 파라미터 값을 변경할 수 있음</a:t>
            </a: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/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ko-KR" sz="2000" b="1" dirty="0"/>
              <a:t>Module Port  </a:t>
            </a:r>
            <a:r>
              <a:rPr lang="ko-KR" altLang="en-US" sz="2000" b="1" dirty="0"/>
              <a:t>연결</a:t>
            </a:r>
            <a:endParaRPr lang="en-US" altLang="ko-KR" sz="2000" b="1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순서에</a:t>
            </a:r>
            <a:r>
              <a:rPr lang="en-US" altLang="ko-KR" sz="2000" dirty="0"/>
              <a:t> </a:t>
            </a:r>
            <a:r>
              <a:rPr lang="ko-KR" altLang="en-US" sz="2000" dirty="0"/>
              <a:t>의한 연결</a:t>
            </a:r>
            <a:r>
              <a:rPr lang="en-US" altLang="ko-KR" sz="2000" dirty="0"/>
              <a:t>(ordered port connection)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이름에 의한 연결</a:t>
            </a:r>
            <a:r>
              <a:rPr lang="en-US" altLang="ko-KR" sz="2000" dirty="0"/>
              <a:t>(named port connection)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ko-KR" altLang="en-US" sz="2000" dirty="0"/>
              <a:t>인스턴스와 상위 모듈의 포트를 연결할 때 오류를 줄이기 위해 순서와 이름을 모두 매칭하여 연결하는 것이 </a:t>
            </a:r>
            <a:r>
              <a:rPr lang="ko-KR" altLang="en-US" sz="2000" dirty="0" err="1"/>
              <a:t>바람직</a:t>
            </a:r>
            <a:endParaRPr lang="en-US" altLang="ko-KR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E0D2F-94A7-4A45-B2AA-B47E0E2F0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00" y="2377587"/>
            <a:ext cx="6619875" cy="8191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D501E-AEAA-4504-8330-ACBE7DD7C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677" y="5282712"/>
            <a:ext cx="5734050" cy="723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5029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Module Parameter and Port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BD556-D4B6-41E0-939F-0DEDB41F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21" y="1586645"/>
            <a:ext cx="3371850" cy="412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E74C1-D336-46C0-8172-5E35DA994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968" y="1586645"/>
            <a:ext cx="5114925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99C73-143E-47A1-9953-855009715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643" y="3978885"/>
            <a:ext cx="5048250" cy="1714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147CAE-FC76-454A-BB46-7539FC2882B4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4071571" y="2424845"/>
            <a:ext cx="1491397" cy="1223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ECF166-8F69-4F6F-AA83-3579D35C0583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4071571" y="3648808"/>
            <a:ext cx="1558072" cy="118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57810A-7839-4312-9DB2-EDC0C5DBE938}"/>
              </a:ext>
            </a:extLst>
          </p:cNvPr>
          <p:cNvSpPr txBox="1"/>
          <p:nvPr/>
        </p:nvSpPr>
        <p:spPr>
          <a:xfrm>
            <a:off x="7183315" y="1260393"/>
            <a:ext cx="2461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순서에 의한 포트 연결</a:t>
            </a:r>
            <a:endParaRPr 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BAD7F-3686-412F-A722-9C0E06888A79}"/>
              </a:ext>
            </a:extLst>
          </p:cNvPr>
          <p:cNvSpPr txBox="1"/>
          <p:nvPr/>
        </p:nvSpPr>
        <p:spPr>
          <a:xfrm>
            <a:off x="7080738" y="5746463"/>
            <a:ext cx="2461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이름과 순서에 의한 포트 연결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012335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Module Instantiation</a:t>
            </a:r>
            <a:r>
              <a:rPr lang="ko-KR" altLang="en-US" sz="3200" dirty="0"/>
              <a:t> </a:t>
            </a:r>
            <a:r>
              <a:rPr lang="en-US" altLang="ko-KR" sz="3200" dirty="0"/>
              <a:t>and</a:t>
            </a:r>
            <a:r>
              <a:rPr lang="ko-KR" altLang="en-US" sz="3200" dirty="0"/>
              <a:t> </a:t>
            </a:r>
            <a:r>
              <a:rPr lang="en-US" altLang="ko-KR" sz="3200" dirty="0"/>
              <a:t>Parameter</a:t>
            </a:r>
            <a:r>
              <a:rPr lang="ko-KR" altLang="en-US" sz="3200" dirty="0"/>
              <a:t> </a:t>
            </a:r>
            <a:r>
              <a:rPr lang="en-US" altLang="ko-KR" sz="3200" dirty="0"/>
              <a:t>Overriding</a:t>
            </a:r>
            <a:endParaRPr lang="ko-KR" alt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4B182-A65D-4FA1-BCD2-B5B2DB4A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73" y="1338262"/>
            <a:ext cx="3305175" cy="4181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BFDEA-FE92-4B42-A199-7712AD943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816" y="1338262"/>
            <a:ext cx="7296515" cy="421801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2BB481-00ED-475B-90E0-8F27E2A878E5}"/>
              </a:ext>
            </a:extLst>
          </p:cNvPr>
          <p:cNvCxnSpPr/>
          <p:nvPr/>
        </p:nvCxnSpPr>
        <p:spPr>
          <a:xfrm>
            <a:off x="3930162" y="342899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82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 DUT(1-bit half adder)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12E88-5AA3-4741-8CE8-69ABD22D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592" y="2889440"/>
            <a:ext cx="3862430" cy="18851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B1D878-4A00-4087-842D-CE3FD57E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483" y="3914775"/>
            <a:ext cx="3981450" cy="1314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F9F966-537B-4715-B91F-0F0536079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483" y="1749669"/>
            <a:ext cx="3981450" cy="91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942AFC5-6FB9-4F96-B3D6-1B6A85780BD8}"/>
              </a:ext>
            </a:extLst>
          </p:cNvPr>
          <p:cNvSpPr/>
          <p:nvPr/>
        </p:nvSpPr>
        <p:spPr>
          <a:xfrm>
            <a:off x="6400069" y="3468565"/>
            <a:ext cx="536331" cy="501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8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 DUT(1-bit half adder)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A90BB-469E-4D8F-9513-66B12522B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90" y="1489197"/>
            <a:ext cx="39814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0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D49C6-AE7B-468F-A887-BA8A8341C84F}"/>
              </a:ext>
            </a:extLst>
          </p:cNvPr>
          <p:cNvSpPr txBox="1">
            <a:spLocks/>
          </p:cNvSpPr>
          <p:nvPr/>
        </p:nvSpPr>
        <p:spPr>
          <a:xfrm>
            <a:off x="654342" y="365925"/>
            <a:ext cx="10515600" cy="620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 DUT(1-bit full adder)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269D8-6EDE-4AE2-B18A-460B0D918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3" y="1495791"/>
            <a:ext cx="5448300" cy="1000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05CFD2-29FB-4388-9FBE-0E25BBCCF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310" y="3005069"/>
            <a:ext cx="4009245" cy="29852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93E17C-46CF-4801-B740-60E991A4B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192" y="3921369"/>
            <a:ext cx="4671647" cy="21697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736074A-DEEF-4E7E-8D3E-6CECB2220316}"/>
              </a:ext>
            </a:extLst>
          </p:cNvPr>
          <p:cNvSpPr/>
          <p:nvPr/>
        </p:nvSpPr>
        <p:spPr>
          <a:xfrm>
            <a:off x="6314343" y="3525715"/>
            <a:ext cx="411772" cy="395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23C01-E915-45BD-A314-DB06C53B8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565" y="1156039"/>
            <a:ext cx="3286125" cy="2200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24821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991F2-4F1E-4157-A256-A3A83BC6C645}"/>
              </a:ext>
            </a:extLst>
          </p:cNvPr>
          <p:cNvSpPr txBox="1">
            <a:spLocks/>
          </p:cNvSpPr>
          <p:nvPr/>
        </p:nvSpPr>
        <p:spPr>
          <a:xfrm>
            <a:off x="654342" y="365925"/>
            <a:ext cx="10515600" cy="620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 DUT(1-bit full adder)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7CF232-9FC4-47E0-9441-24F4E632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2414587"/>
            <a:ext cx="89058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65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 DUT(1-bit full adder)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7C6CE-53AB-45D0-AF8B-ACE529258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814" y="1157287"/>
            <a:ext cx="52673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5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 Test Bench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E811D-B199-470E-B9EE-C2C897B4C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65" y="1233487"/>
            <a:ext cx="60579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38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D3D3-C8D3-093B-3FB2-1410378439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Module Instance Array</a:t>
            </a:r>
            <a:endParaRPr lang="ko-KR" alt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2BCAD-6D75-4C10-810F-4075BBA7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55" y="1235685"/>
            <a:ext cx="4933950" cy="4791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D4B66D-68F9-4F28-91CD-68DD06917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45" y="1202347"/>
            <a:ext cx="4686300" cy="4857750"/>
          </a:xfrm>
          <a:prstGeom prst="rect">
            <a:avLst/>
          </a:prstGeom>
        </p:spPr>
      </p:pic>
      <p:sp>
        <p:nvSpPr>
          <p:cNvPr id="6" name="Equals 5">
            <a:extLst>
              <a:ext uri="{FF2B5EF4-FFF2-40B4-BE49-F238E27FC236}">
                <a16:creationId xmlns:a16="http://schemas.microsoft.com/office/drawing/2014/main" id="{EF6FD829-358C-4B9D-A892-0DAC4F23FDB8}"/>
              </a:ext>
            </a:extLst>
          </p:cNvPr>
          <p:cNvSpPr/>
          <p:nvPr/>
        </p:nvSpPr>
        <p:spPr>
          <a:xfrm>
            <a:off x="6096000" y="3429000"/>
            <a:ext cx="287215" cy="40444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235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B3C0-EE48-423B-A2FD-E753D32418C1}"/>
              </a:ext>
            </a:extLst>
          </p:cNvPr>
          <p:cNvSpPr txBox="1">
            <a:spLocks/>
          </p:cNvSpPr>
          <p:nvPr/>
        </p:nvSpPr>
        <p:spPr>
          <a:xfrm>
            <a:off x="881063" y="365125"/>
            <a:ext cx="11310937" cy="63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Real number port connection</a:t>
            </a:r>
            <a:endParaRPr lang="ko-KR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0AF7A-3E6E-4055-B5CC-B97EE593363E}"/>
              </a:ext>
            </a:extLst>
          </p:cNvPr>
          <p:cNvSpPr txBox="1"/>
          <p:nvPr/>
        </p:nvSpPr>
        <p:spPr>
          <a:xfrm>
            <a:off x="881063" y="1213338"/>
            <a:ext cx="9019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Real </a:t>
            </a:r>
            <a:r>
              <a:rPr lang="ko-KR" altLang="en-US" sz="2000" b="1" dirty="0"/>
              <a:t>자료형 변수는 모듈 포트에 직접 연결 불가</a:t>
            </a:r>
            <a:endParaRPr lang="en-US" sz="2000" b="1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ko-KR" sz="2000" dirty="0"/>
              <a:t> system</a:t>
            </a:r>
            <a:r>
              <a:rPr lang="ko-KR" altLang="en-US" sz="2000" dirty="0"/>
              <a:t> </a:t>
            </a:r>
            <a:r>
              <a:rPr lang="en-US" altLang="ko-KR" sz="2000" dirty="0"/>
              <a:t>task $</a:t>
            </a:r>
            <a:r>
              <a:rPr lang="en-US" altLang="ko-KR" sz="2000" dirty="0" err="1"/>
              <a:t>realtobits</a:t>
            </a:r>
            <a:r>
              <a:rPr lang="en-US" altLang="ko-KR" sz="2000" dirty="0"/>
              <a:t> </a:t>
            </a:r>
            <a:r>
              <a:rPr lang="ko-KR" altLang="en-US" sz="2000" dirty="0"/>
              <a:t>를 사용해서 실수를 </a:t>
            </a:r>
            <a:r>
              <a:rPr lang="en-US" altLang="ko-KR" sz="2000" dirty="0"/>
              <a:t>64bit </a:t>
            </a:r>
            <a:r>
              <a:rPr lang="ko-KR" altLang="en-US" sz="2000" dirty="0"/>
              <a:t>벡터로 변환하고 포트에 연결</a:t>
            </a:r>
            <a:endParaRPr lang="en-US" altLang="ko-K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F1DE2-A529-4511-B24B-159B9F59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69993"/>
            <a:ext cx="4572000" cy="2838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49AD6D-818D-429C-82CD-796B9998E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66" y="3169993"/>
            <a:ext cx="40767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091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14224</TotalTime>
  <Words>297</Words>
  <Application>Microsoft Office PowerPoint</Application>
  <PresentationFormat>Widescreen</PresentationFormat>
  <Paragraphs>62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맑은 고딕</vt:lpstr>
      <vt:lpstr>Rubik Light</vt:lpstr>
      <vt:lpstr>나눔스퀘어 네오 Regular</vt:lpstr>
      <vt:lpstr>Arial</vt:lpstr>
      <vt:lpstr>Wingdings</vt:lpstr>
      <vt:lpstr>Office 테마</vt:lpstr>
      <vt:lpstr>Digital Design 101 | 2026-1</vt:lpstr>
      <vt:lpstr>1. Module</vt:lpstr>
      <vt:lpstr>Module</vt:lpstr>
      <vt:lpstr>PowerPoint Presentation</vt:lpstr>
      <vt:lpstr>PowerPoint Presentation</vt:lpstr>
      <vt:lpstr>Port Type</vt:lpstr>
      <vt:lpstr>Port List and Declaration(1)</vt:lpstr>
      <vt:lpstr>Port List and Declaration(2)</vt:lpstr>
      <vt:lpstr>2. Module Instance</vt:lpstr>
      <vt:lpstr>Module Instantiation</vt:lpstr>
      <vt:lpstr>Module Parameter and Port</vt:lpstr>
      <vt:lpstr>Module Parameter and Port</vt:lpstr>
      <vt:lpstr>Module Instantiation and Parameter Overriding</vt:lpstr>
      <vt:lpstr>LAB : DUT(1-bit half adder)</vt:lpstr>
      <vt:lpstr>LAB : DUT(1-bit half adder)</vt:lpstr>
      <vt:lpstr>PowerPoint Presentation</vt:lpstr>
      <vt:lpstr>PowerPoint Presentation</vt:lpstr>
      <vt:lpstr>LAB : DUT(1-bit full adder)</vt:lpstr>
      <vt:lpstr>LAB : Test Bench</vt:lpstr>
      <vt:lpstr>Module Instance Array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[교원]우승안</cp:lastModifiedBy>
  <cp:revision>763</cp:revision>
  <dcterms:created xsi:type="dcterms:W3CDTF">2024-09-20T05:42:48Z</dcterms:created>
  <dcterms:modified xsi:type="dcterms:W3CDTF">2026-06-03T08:39:57Z</dcterms:modified>
</cp:coreProperties>
</file>